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651760"/>
            <a:ext cx="164592" cy="155448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972800" cy="1280160"/>
          </a:xfrm>
          <a:prstGeom prst="rect">
            <a:avLst/>
          </a:prstGeom>
          <a:noFill/>
        </p:spPr>
        <p:txBody>
          <a:bodyPr wrap="square" lIns="0" rIns="0" tIns="0" bIns="0">
            <a:spAutoFit/>
          </a:bodyPr>
          <a:lstStyle/>
          <a:p>
            <a:pPr algn="l"/>
            <a:r>
              <a:rPr sz="5400" b="1">
                <a:solidFill>
                  <a:srgbClr val="FFFFFF"/>
                </a:solidFill>
                <a:latin typeface="Calibri"/>
              </a:rPr>
              <a:t>FedBook-Sem</a:t>
            </a:r>
          </a:p>
        </p:txBody>
      </p:sp>
      <p:sp>
        <p:nvSpPr>
          <p:cNvPr id="5" name="TextBox 4"/>
          <p:cNvSpPr txBox="1"/>
          <p:nvPr/>
        </p:nvSpPr>
        <p:spPr>
          <a:xfrm>
            <a:off x="822960" y="3566160"/>
            <a:ext cx="10972800" cy="822960"/>
          </a:xfrm>
          <a:prstGeom prst="rect">
            <a:avLst/>
          </a:prstGeom>
          <a:noFill/>
        </p:spPr>
        <p:txBody>
          <a:bodyPr wrap="square" lIns="0" rIns="0" tIns="0" bIns="0">
            <a:spAutoFit/>
          </a:bodyPr>
          <a:lstStyle/>
          <a:p>
            <a:pPr algn="l"/>
            <a:r>
              <a:rPr sz="2200" b="0">
                <a:solidFill>
                  <a:srgbClr val="E7EAF0"/>
                </a:solidFill>
                <a:latin typeface="Calibri"/>
              </a:rPr>
              <a:t>Technical Walkthrough — Architecture, Stack, Data Flow</a:t>
            </a:r>
          </a:p>
        </p:txBody>
      </p:sp>
      <p:sp>
        <p:nvSpPr>
          <p:cNvPr id="6" name="TextBox 5"/>
          <p:cNvSpPr txBox="1"/>
          <p:nvPr/>
        </p:nvSpPr>
        <p:spPr>
          <a:xfrm>
            <a:off x="822960" y="5212080"/>
            <a:ext cx="10972800" cy="457200"/>
          </a:xfrm>
          <a:prstGeom prst="rect">
            <a:avLst/>
          </a:prstGeom>
          <a:noFill/>
        </p:spPr>
        <p:txBody>
          <a:bodyPr wrap="square" lIns="0" rIns="0" tIns="0" bIns="0">
            <a:spAutoFit/>
          </a:bodyPr>
          <a:lstStyle/>
          <a:p>
            <a:pPr algn="l"/>
            <a:r>
              <a:rPr sz="1300" b="0">
                <a:solidFill>
                  <a:srgbClr val="E9B44C"/>
                </a:solidFill>
                <a:latin typeface="Calibri"/>
              </a:rPr>
              <a:t>For engineers and technical reviewers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What FedBook-Sem Is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FedBook-Sem is a federated social layer for an intelligent online bookstore. Users own an ActivityPub actor, write W3C Web Annotations on book passages, and receive recommendations that fuse semantic similarity, collaborative filtering, and privacy-preserving cross-platform reception.</a:t>
            </a:r>
          </a:p>
          <a:p>
            <a:pPr algn="l">
              <a:spcAft>
                <a:spcPts val="600"/>
              </a:spcAft>
            </a:pPr>
            <a:r>
              <a:rPr sz="1700">
                <a:solidFill>
                  <a:srgbClr val="1A1A1A"/>
                </a:solidFill>
                <a:latin typeface="Calibri"/>
              </a:rPr>
              <a:t>•  Two independent runtimes (Node backend, Python ML service) share one Neo4j.</a:t>
            </a:r>
          </a:p>
          <a:p>
            <a:pPr algn="l">
              <a:spcAft>
                <a:spcPts val="600"/>
              </a:spcAft>
            </a:pPr>
            <a:r>
              <a:rPr sz="1700">
                <a:solidFill>
                  <a:srgbClr val="1A1A1A"/>
                </a:solidFill>
                <a:latin typeface="Calibri"/>
              </a:rPr>
              <a:t>•  Streamlit dashboard is a thin client over the ML FastAPI.</a:t>
            </a:r>
          </a:p>
          <a:p>
            <a:pPr algn="l">
              <a:spcAft>
                <a:spcPts val="600"/>
              </a:spcAft>
            </a:pPr>
            <a:r>
              <a:rPr sz="1700">
                <a:solidFill>
                  <a:srgbClr val="1A1A1A"/>
                </a:solidFill>
                <a:latin typeface="Calibri"/>
              </a:rPr>
              <a:t>•  Idempotent seeders — FE seed and ML seed can co-exist safely.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Runtime Topology</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localhost:3000</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React FE (CRA dev server, proxies /api → :3001)</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localhost:3001</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Express backend (Node 20)</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localhost:7474 / 7687</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Neo4j 5.15 (browser + bolt)</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localhost:6379</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Redis 7</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localhost:5432</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PostgreSQL 16</a:t>
            </a:r>
          </a:p>
        </p:txBody>
      </p:sp>
      <p:sp>
        <p:nvSpPr>
          <p:cNvPr id="22" name="Rectangle 21"/>
          <p:cNvSpPr/>
          <p:nvPr/>
        </p:nvSpPr>
        <p:spPr>
          <a:xfrm>
            <a:off x="640080" y="3995927"/>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23359"/>
            <a:ext cx="3200400" cy="411480"/>
          </a:xfrm>
          <a:prstGeom prst="rect">
            <a:avLst/>
          </a:prstGeom>
          <a:noFill/>
        </p:spPr>
        <p:txBody>
          <a:bodyPr wrap="square" lIns="0" rIns="0" tIns="0" bIns="0">
            <a:spAutoFit/>
          </a:bodyPr>
          <a:lstStyle/>
          <a:p>
            <a:pPr algn="l"/>
            <a:r>
              <a:rPr sz="1300" b="1">
                <a:solidFill>
                  <a:srgbClr val="1E2A44"/>
                </a:solidFill>
                <a:latin typeface="Calibri"/>
              </a:rPr>
              <a:t>localhost:8000</a:t>
            </a:r>
          </a:p>
        </p:txBody>
      </p:sp>
      <p:sp>
        <p:nvSpPr>
          <p:cNvPr id="24" name="TextBox 23"/>
          <p:cNvSpPr txBox="1"/>
          <p:nvPr/>
        </p:nvSpPr>
        <p:spPr>
          <a:xfrm>
            <a:off x="4023360" y="4023359"/>
            <a:ext cx="7680960" cy="411480"/>
          </a:xfrm>
          <a:prstGeom prst="rect">
            <a:avLst/>
          </a:prstGeom>
          <a:noFill/>
        </p:spPr>
        <p:txBody>
          <a:bodyPr wrap="square" lIns="0" rIns="0" tIns="0" bIns="0">
            <a:spAutoFit/>
          </a:bodyPr>
          <a:lstStyle/>
          <a:p>
            <a:pPr algn="l"/>
            <a:r>
              <a:rPr sz="1200" b="0">
                <a:solidFill>
                  <a:srgbClr val="1A1A1A"/>
                </a:solidFill>
                <a:latin typeface="Calibri"/>
              </a:rPr>
              <a:t>FastAPI ML service (Python 3.11)</a:t>
            </a:r>
          </a:p>
        </p:txBody>
      </p:sp>
      <p:sp>
        <p:nvSpPr>
          <p:cNvPr id="25" name="Rectangle 24"/>
          <p:cNvSpPr/>
          <p:nvPr/>
        </p:nvSpPr>
        <p:spPr>
          <a:xfrm>
            <a:off x="640080" y="449884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526280"/>
            <a:ext cx="3200400" cy="411480"/>
          </a:xfrm>
          <a:prstGeom prst="rect">
            <a:avLst/>
          </a:prstGeom>
          <a:noFill/>
        </p:spPr>
        <p:txBody>
          <a:bodyPr wrap="square" lIns="0" rIns="0" tIns="0" bIns="0">
            <a:spAutoFit/>
          </a:bodyPr>
          <a:lstStyle/>
          <a:p>
            <a:pPr algn="l"/>
            <a:r>
              <a:rPr sz="1300" b="1">
                <a:solidFill>
                  <a:srgbClr val="1E2A44"/>
                </a:solidFill>
                <a:latin typeface="Calibri"/>
              </a:rPr>
              <a:t>localhost:8501</a:t>
            </a:r>
          </a:p>
        </p:txBody>
      </p:sp>
      <p:sp>
        <p:nvSpPr>
          <p:cNvPr id="27" name="TextBox 26"/>
          <p:cNvSpPr txBox="1"/>
          <p:nvPr/>
        </p:nvSpPr>
        <p:spPr>
          <a:xfrm>
            <a:off x="4023360" y="4526280"/>
            <a:ext cx="7680960" cy="411480"/>
          </a:xfrm>
          <a:prstGeom prst="rect">
            <a:avLst/>
          </a:prstGeom>
          <a:noFill/>
        </p:spPr>
        <p:txBody>
          <a:bodyPr wrap="square" lIns="0" rIns="0" tIns="0" bIns="0">
            <a:spAutoFit/>
          </a:bodyPr>
          <a:lstStyle/>
          <a:p>
            <a:pPr algn="l"/>
            <a:r>
              <a:rPr sz="1200" b="0">
                <a:solidFill>
                  <a:srgbClr val="1A1A1A"/>
                </a:solidFill>
                <a:latin typeface="Calibri"/>
              </a:rPr>
              <a:t>Streamlit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Technology Stack</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3891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393192"/>
          </a:xfrm>
          <a:prstGeom prst="rect">
            <a:avLst/>
          </a:prstGeom>
          <a:noFill/>
        </p:spPr>
        <p:txBody>
          <a:bodyPr wrap="square" lIns="0" rIns="0" tIns="0" bIns="0">
            <a:spAutoFit/>
          </a:bodyPr>
          <a:lstStyle/>
          <a:p>
            <a:pPr algn="l"/>
            <a:r>
              <a:rPr sz="1300" b="1">
                <a:solidFill>
                  <a:srgbClr val="1E2A44"/>
                </a:solidFill>
                <a:latin typeface="Calibri"/>
              </a:rPr>
              <a:t>Federation</a:t>
            </a:r>
          </a:p>
        </p:txBody>
      </p:sp>
      <p:sp>
        <p:nvSpPr>
          <p:cNvPr id="9" name="TextBox 8"/>
          <p:cNvSpPr txBox="1"/>
          <p:nvPr/>
        </p:nvSpPr>
        <p:spPr>
          <a:xfrm>
            <a:off x="4023360" y="1508760"/>
            <a:ext cx="7680960" cy="393192"/>
          </a:xfrm>
          <a:prstGeom prst="rect">
            <a:avLst/>
          </a:prstGeom>
          <a:noFill/>
        </p:spPr>
        <p:txBody>
          <a:bodyPr wrap="square" lIns="0" rIns="0" tIns="0" bIns="0">
            <a:spAutoFit/>
          </a:bodyPr>
          <a:lstStyle/>
          <a:p>
            <a:pPr algn="l"/>
            <a:r>
              <a:rPr sz="1200" b="0">
                <a:solidFill>
                  <a:srgbClr val="1A1A1A"/>
                </a:solidFill>
                <a:latin typeface="Calibri"/>
              </a:rPr>
              <a:t>ActivityPub + WebFinger + HTTP Signatures (RSA-2048)</a:t>
            </a:r>
          </a:p>
        </p:txBody>
      </p:sp>
      <p:sp>
        <p:nvSpPr>
          <p:cNvPr id="10" name="Rectangle 9"/>
          <p:cNvSpPr/>
          <p:nvPr/>
        </p:nvSpPr>
        <p:spPr>
          <a:xfrm>
            <a:off x="640080" y="1965960"/>
            <a:ext cx="11155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93391"/>
            <a:ext cx="3200400" cy="393192"/>
          </a:xfrm>
          <a:prstGeom prst="rect">
            <a:avLst/>
          </a:prstGeom>
          <a:noFill/>
        </p:spPr>
        <p:txBody>
          <a:bodyPr wrap="square" lIns="0" rIns="0" tIns="0" bIns="0">
            <a:spAutoFit/>
          </a:bodyPr>
          <a:lstStyle/>
          <a:p>
            <a:pPr algn="l"/>
            <a:r>
              <a:rPr sz="1300" b="1">
                <a:solidFill>
                  <a:srgbClr val="1E2A44"/>
                </a:solidFill>
                <a:latin typeface="Calibri"/>
              </a:rPr>
              <a:t>Annotations</a:t>
            </a:r>
          </a:p>
        </p:txBody>
      </p:sp>
      <p:sp>
        <p:nvSpPr>
          <p:cNvPr id="12" name="TextBox 11"/>
          <p:cNvSpPr txBox="1"/>
          <p:nvPr/>
        </p:nvSpPr>
        <p:spPr>
          <a:xfrm>
            <a:off x="4023360" y="1993391"/>
            <a:ext cx="7680960" cy="393192"/>
          </a:xfrm>
          <a:prstGeom prst="rect">
            <a:avLst/>
          </a:prstGeom>
          <a:noFill/>
        </p:spPr>
        <p:txBody>
          <a:bodyPr wrap="square" lIns="0" rIns="0" tIns="0" bIns="0">
            <a:spAutoFit/>
          </a:bodyPr>
          <a:lstStyle/>
          <a:p>
            <a:pPr algn="l"/>
            <a:r>
              <a:rPr sz="1200" b="0">
                <a:solidFill>
                  <a:srgbClr val="1A1A1A"/>
                </a:solidFill>
                <a:latin typeface="Calibri"/>
              </a:rPr>
              <a:t>W3C Web Annotation Data Model — TextQuote + TextPosition selectors</a:t>
            </a:r>
          </a:p>
        </p:txBody>
      </p:sp>
      <p:sp>
        <p:nvSpPr>
          <p:cNvPr id="13" name="Rectangle 12"/>
          <p:cNvSpPr/>
          <p:nvPr/>
        </p:nvSpPr>
        <p:spPr>
          <a:xfrm>
            <a:off x="640080" y="2450592"/>
            <a:ext cx="11155680" cy="43891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78024"/>
            <a:ext cx="3200400" cy="393192"/>
          </a:xfrm>
          <a:prstGeom prst="rect">
            <a:avLst/>
          </a:prstGeom>
          <a:noFill/>
        </p:spPr>
        <p:txBody>
          <a:bodyPr wrap="square" lIns="0" rIns="0" tIns="0" bIns="0">
            <a:spAutoFit/>
          </a:bodyPr>
          <a:lstStyle/>
          <a:p>
            <a:pPr algn="l"/>
            <a:r>
              <a:rPr sz="1300" b="1">
                <a:solidFill>
                  <a:srgbClr val="1E2A44"/>
                </a:solidFill>
                <a:latin typeface="Calibri"/>
              </a:rPr>
              <a:t>Backend</a:t>
            </a:r>
          </a:p>
        </p:txBody>
      </p:sp>
      <p:sp>
        <p:nvSpPr>
          <p:cNvPr id="15" name="TextBox 14"/>
          <p:cNvSpPr txBox="1"/>
          <p:nvPr/>
        </p:nvSpPr>
        <p:spPr>
          <a:xfrm>
            <a:off x="4023360" y="2478024"/>
            <a:ext cx="7680960" cy="393192"/>
          </a:xfrm>
          <a:prstGeom prst="rect">
            <a:avLst/>
          </a:prstGeom>
          <a:noFill/>
        </p:spPr>
        <p:txBody>
          <a:bodyPr wrap="square" lIns="0" rIns="0" tIns="0" bIns="0">
            <a:spAutoFit/>
          </a:bodyPr>
          <a:lstStyle/>
          <a:p>
            <a:pPr algn="l"/>
            <a:r>
              <a:rPr sz="1200" b="0">
                <a:solidFill>
                  <a:srgbClr val="1A1A1A"/>
                </a:solidFill>
                <a:latin typeface="Calibri"/>
              </a:rPr>
              <a:t>Node.js 20 · Express · JWT · bcrypt · node-forge · multer · Bull</a:t>
            </a:r>
          </a:p>
        </p:txBody>
      </p:sp>
      <p:sp>
        <p:nvSpPr>
          <p:cNvPr id="16" name="Rectangle 15"/>
          <p:cNvSpPr/>
          <p:nvPr/>
        </p:nvSpPr>
        <p:spPr>
          <a:xfrm>
            <a:off x="640080" y="2935224"/>
            <a:ext cx="11155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62656"/>
            <a:ext cx="3200400" cy="393192"/>
          </a:xfrm>
          <a:prstGeom prst="rect">
            <a:avLst/>
          </a:prstGeom>
          <a:noFill/>
        </p:spPr>
        <p:txBody>
          <a:bodyPr wrap="square" lIns="0" rIns="0" tIns="0" bIns="0">
            <a:spAutoFit/>
          </a:bodyPr>
          <a:lstStyle/>
          <a:p>
            <a:pPr algn="l"/>
            <a:r>
              <a:rPr sz="1300" b="1">
                <a:solidFill>
                  <a:srgbClr val="1E2A44"/>
                </a:solidFill>
                <a:latin typeface="Calibri"/>
              </a:rPr>
              <a:t>Frontend</a:t>
            </a:r>
          </a:p>
        </p:txBody>
      </p:sp>
      <p:sp>
        <p:nvSpPr>
          <p:cNvPr id="18" name="TextBox 17"/>
          <p:cNvSpPr txBox="1"/>
          <p:nvPr/>
        </p:nvSpPr>
        <p:spPr>
          <a:xfrm>
            <a:off x="4023360" y="2962656"/>
            <a:ext cx="7680960" cy="393192"/>
          </a:xfrm>
          <a:prstGeom prst="rect">
            <a:avLst/>
          </a:prstGeom>
          <a:noFill/>
        </p:spPr>
        <p:txBody>
          <a:bodyPr wrap="square" lIns="0" rIns="0" tIns="0" bIns="0">
            <a:spAutoFit/>
          </a:bodyPr>
          <a:lstStyle/>
          <a:p>
            <a:pPr algn="l"/>
            <a:r>
              <a:rPr sz="1200" b="0">
                <a:solidFill>
                  <a:srgbClr val="1A1A1A"/>
                </a:solidFill>
                <a:latin typeface="Calibri"/>
              </a:rPr>
              <a:t>React 18 · React Router v6 · Axios · custom dark design system</a:t>
            </a:r>
          </a:p>
        </p:txBody>
      </p:sp>
      <p:sp>
        <p:nvSpPr>
          <p:cNvPr id="19" name="Rectangle 18"/>
          <p:cNvSpPr/>
          <p:nvPr/>
        </p:nvSpPr>
        <p:spPr>
          <a:xfrm>
            <a:off x="640080" y="3419856"/>
            <a:ext cx="11155680" cy="43891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447288"/>
            <a:ext cx="3200400" cy="393192"/>
          </a:xfrm>
          <a:prstGeom prst="rect">
            <a:avLst/>
          </a:prstGeom>
          <a:noFill/>
        </p:spPr>
        <p:txBody>
          <a:bodyPr wrap="square" lIns="0" rIns="0" tIns="0" bIns="0">
            <a:spAutoFit/>
          </a:bodyPr>
          <a:lstStyle/>
          <a:p>
            <a:pPr algn="l"/>
            <a:r>
              <a:rPr sz="1300" b="1">
                <a:solidFill>
                  <a:srgbClr val="1E2A44"/>
                </a:solidFill>
                <a:latin typeface="Calibri"/>
              </a:rPr>
              <a:t>Graph DB</a:t>
            </a:r>
          </a:p>
        </p:txBody>
      </p:sp>
      <p:sp>
        <p:nvSpPr>
          <p:cNvPr id="21" name="TextBox 20"/>
          <p:cNvSpPr txBox="1"/>
          <p:nvPr/>
        </p:nvSpPr>
        <p:spPr>
          <a:xfrm>
            <a:off x="4023360" y="3447288"/>
            <a:ext cx="7680960" cy="393192"/>
          </a:xfrm>
          <a:prstGeom prst="rect">
            <a:avLst/>
          </a:prstGeom>
          <a:noFill/>
        </p:spPr>
        <p:txBody>
          <a:bodyPr wrap="square" lIns="0" rIns="0" tIns="0" bIns="0">
            <a:spAutoFit/>
          </a:bodyPr>
          <a:lstStyle/>
          <a:p>
            <a:pPr algn="l"/>
            <a:r>
              <a:rPr sz="1200" b="0">
                <a:solidFill>
                  <a:srgbClr val="1A1A1A"/>
                </a:solidFill>
                <a:latin typeface="Calibri"/>
              </a:rPr>
              <a:t>Neo4j 5.15 + APOC + Graph Data Science + native vector index</a:t>
            </a:r>
          </a:p>
        </p:txBody>
      </p:sp>
      <p:sp>
        <p:nvSpPr>
          <p:cNvPr id="22" name="Rectangle 21"/>
          <p:cNvSpPr/>
          <p:nvPr/>
        </p:nvSpPr>
        <p:spPr>
          <a:xfrm>
            <a:off x="640080" y="3904487"/>
            <a:ext cx="11155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931920"/>
            <a:ext cx="3200400" cy="393192"/>
          </a:xfrm>
          <a:prstGeom prst="rect">
            <a:avLst/>
          </a:prstGeom>
          <a:noFill/>
        </p:spPr>
        <p:txBody>
          <a:bodyPr wrap="square" lIns="0" rIns="0" tIns="0" bIns="0">
            <a:spAutoFit/>
          </a:bodyPr>
          <a:lstStyle/>
          <a:p>
            <a:pPr algn="l"/>
            <a:r>
              <a:rPr sz="1300" b="1">
                <a:solidFill>
                  <a:srgbClr val="1E2A44"/>
                </a:solidFill>
                <a:latin typeface="Calibri"/>
              </a:rPr>
              <a:t>ML service</a:t>
            </a:r>
          </a:p>
        </p:txBody>
      </p:sp>
      <p:sp>
        <p:nvSpPr>
          <p:cNvPr id="24" name="TextBox 23"/>
          <p:cNvSpPr txBox="1"/>
          <p:nvPr/>
        </p:nvSpPr>
        <p:spPr>
          <a:xfrm>
            <a:off x="4023360" y="3931920"/>
            <a:ext cx="7680960" cy="393192"/>
          </a:xfrm>
          <a:prstGeom prst="rect">
            <a:avLst/>
          </a:prstGeom>
          <a:noFill/>
        </p:spPr>
        <p:txBody>
          <a:bodyPr wrap="square" lIns="0" rIns="0" tIns="0" bIns="0">
            <a:spAutoFit/>
          </a:bodyPr>
          <a:lstStyle/>
          <a:p>
            <a:pPr algn="l"/>
            <a:r>
              <a:rPr sz="1200" b="0">
                <a:solidFill>
                  <a:srgbClr val="1A1A1A"/>
                </a:solidFill>
                <a:latin typeface="Calibri"/>
              </a:rPr>
              <a:t>Python 3.11 · FastAPI · sentence-transformers · LightFM · LightGBM</a:t>
            </a:r>
          </a:p>
        </p:txBody>
      </p:sp>
      <p:sp>
        <p:nvSpPr>
          <p:cNvPr id="25" name="Rectangle 24"/>
          <p:cNvSpPr/>
          <p:nvPr/>
        </p:nvSpPr>
        <p:spPr>
          <a:xfrm>
            <a:off x="640080" y="4389120"/>
            <a:ext cx="11155680" cy="43891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416552"/>
            <a:ext cx="3200400" cy="393192"/>
          </a:xfrm>
          <a:prstGeom prst="rect">
            <a:avLst/>
          </a:prstGeom>
          <a:noFill/>
        </p:spPr>
        <p:txBody>
          <a:bodyPr wrap="square" lIns="0" rIns="0" tIns="0" bIns="0">
            <a:spAutoFit/>
          </a:bodyPr>
          <a:lstStyle/>
          <a:p>
            <a:pPr algn="l"/>
            <a:r>
              <a:rPr sz="1300" b="1">
                <a:solidFill>
                  <a:srgbClr val="1E2A44"/>
                </a:solidFill>
                <a:latin typeface="Calibri"/>
              </a:rPr>
              <a:t>Sentiment</a:t>
            </a:r>
          </a:p>
        </p:txBody>
      </p:sp>
      <p:sp>
        <p:nvSpPr>
          <p:cNvPr id="27" name="TextBox 26"/>
          <p:cNvSpPr txBox="1"/>
          <p:nvPr/>
        </p:nvSpPr>
        <p:spPr>
          <a:xfrm>
            <a:off x="4023360" y="4416552"/>
            <a:ext cx="7680960" cy="393192"/>
          </a:xfrm>
          <a:prstGeom prst="rect">
            <a:avLst/>
          </a:prstGeom>
          <a:noFill/>
        </p:spPr>
        <p:txBody>
          <a:bodyPr wrap="square" lIns="0" rIns="0" tIns="0" bIns="0">
            <a:spAutoFit/>
          </a:bodyPr>
          <a:lstStyle/>
          <a:p>
            <a:pPr algn="l"/>
            <a:r>
              <a:rPr sz="1200" b="0">
                <a:solidFill>
                  <a:srgbClr val="1A1A1A"/>
                </a:solidFill>
                <a:latin typeface="Calibri"/>
              </a:rPr>
              <a:t>CardiffNLP twitter-roberta-base-sentiment-latest (RoBERTa)</a:t>
            </a:r>
          </a:p>
        </p:txBody>
      </p:sp>
      <p:sp>
        <p:nvSpPr>
          <p:cNvPr id="28" name="Rectangle 27"/>
          <p:cNvSpPr/>
          <p:nvPr/>
        </p:nvSpPr>
        <p:spPr>
          <a:xfrm>
            <a:off x="640080" y="4873752"/>
            <a:ext cx="11155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01184"/>
            <a:ext cx="3200400" cy="393192"/>
          </a:xfrm>
          <a:prstGeom prst="rect">
            <a:avLst/>
          </a:prstGeom>
          <a:noFill/>
        </p:spPr>
        <p:txBody>
          <a:bodyPr wrap="square" lIns="0" rIns="0" tIns="0" bIns="0">
            <a:spAutoFit/>
          </a:bodyPr>
          <a:lstStyle/>
          <a:p>
            <a:pPr algn="l"/>
            <a:r>
              <a:rPr sz="1300" b="1">
                <a:solidFill>
                  <a:srgbClr val="1E2A44"/>
                </a:solidFill>
                <a:latin typeface="Calibri"/>
              </a:rPr>
              <a:t>Cross-encoder</a:t>
            </a:r>
          </a:p>
        </p:txBody>
      </p:sp>
      <p:sp>
        <p:nvSpPr>
          <p:cNvPr id="30" name="TextBox 29"/>
          <p:cNvSpPr txBox="1"/>
          <p:nvPr/>
        </p:nvSpPr>
        <p:spPr>
          <a:xfrm>
            <a:off x="4023360" y="4901184"/>
            <a:ext cx="7680960" cy="393192"/>
          </a:xfrm>
          <a:prstGeom prst="rect">
            <a:avLst/>
          </a:prstGeom>
          <a:noFill/>
        </p:spPr>
        <p:txBody>
          <a:bodyPr wrap="square" lIns="0" rIns="0" tIns="0" bIns="0">
            <a:spAutoFit/>
          </a:bodyPr>
          <a:lstStyle/>
          <a:p>
            <a:pPr algn="l"/>
            <a:r>
              <a:rPr sz="1200" b="0">
                <a:solidFill>
                  <a:srgbClr val="1A1A1A"/>
                </a:solidFill>
                <a:latin typeface="Calibri"/>
              </a:rPr>
              <a:t>BAAI/bge-reranker-base (~500 MB)</a:t>
            </a:r>
          </a:p>
        </p:txBody>
      </p:sp>
      <p:sp>
        <p:nvSpPr>
          <p:cNvPr id="31" name="Rectangle 30"/>
          <p:cNvSpPr/>
          <p:nvPr/>
        </p:nvSpPr>
        <p:spPr>
          <a:xfrm>
            <a:off x="640080" y="5358383"/>
            <a:ext cx="11155680" cy="43891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385816"/>
            <a:ext cx="3200400" cy="393192"/>
          </a:xfrm>
          <a:prstGeom prst="rect">
            <a:avLst/>
          </a:prstGeom>
          <a:noFill/>
        </p:spPr>
        <p:txBody>
          <a:bodyPr wrap="square" lIns="0" rIns="0" tIns="0" bIns="0">
            <a:spAutoFit/>
          </a:bodyPr>
          <a:lstStyle/>
          <a:p>
            <a:pPr algn="l"/>
            <a:r>
              <a:rPr sz="1300" b="1">
                <a:solidFill>
                  <a:srgbClr val="1E2A44"/>
                </a:solidFill>
                <a:latin typeface="Calibri"/>
              </a:rPr>
              <a:t>Dashboard</a:t>
            </a:r>
          </a:p>
        </p:txBody>
      </p:sp>
      <p:sp>
        <p:nvSpPr>
          <p:cNvPr id="33" name="TextBox 32"/>
          <p:cNvSpPr txBox="1"/>
          <p:nvPr/>
        </p:nvSpPr>
        <p:spPr>
          <a:xfrm>
            <a:off x="4023360" y="5385816"/>
            <a:ext cx="7680960" cy="393192"/>
          </a:xfrm>
          <a:prstGeom prst="rect">
            <a:avLst/>
          </a:prstGeom>
          <a:noFill/>
        </p:spPr>
        <p:txBody>
          <a:bodyPr wrap="square" lIns="0" rIns="0" tIns="0" bIns="0">
            <a:spAutoFit/>
          </a:bodyPr>
          <a:lstStyle/>
          <a:p>
            <a:pPr algn="l"/>
            <a:r>
              <a:rPr sz="1200" b="0">
                <a:solidFill>
                  <a:srgbClr val="1A1A1A"/>
                </a:solidFill>
                <a:latin typeface="Calibri"/>
              </a:rPr>
              <a:t>Streamlit — Recommender demo + Model registry</a:t>
            </a:r>
          </a:p>
        </p:txBody>
      </p:sp>
      <p:sp>
        <p:nvSpPr>
          <p:cNvPr id="34" name="Rectangle 33"/>
          <p:cNvSpPr/>
          <p:nvPr/>
        </p:nvSpPr>
        <p:spPr>
          <a:xfrm>
            <a:off x="640080" y="5843016"/>
            <a:ext cx="111556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870448"/>
            <a:ext cx="3200400" cy="393192"/>
          </a:xfrm>
          <a:prstGeom prst="rect">
            <a:avLst/>
          </a:prstGeom>
          <a:noFill/>
        </p:spPr>
        <p:txBody>
          <a:bodyPr wrap="square" lIns="0" rIns="0" tIns="0" bIns="0">
            <a:spAutoFit/>
          </a:bodyPr>
          <a:lstStyle/>
          <a:p>
            <a:pPr algn="l"/>
            <a:r>
              <a:rPr sz="1300" b="1">
                <a:solidFill>
                  <a:srgbClr val="1E2A44"/>
                </a:solidFill>
                <a:latin typeface="Calibri"/>
              </a:rPr>
              <a:t>Infrastructure</a:t>
            </a:r>
          </a:p>
        </p:txBody>
      </p:sp>
      <p:sp>
        <p:nvSpPr>
          <p:cNvPr id="36" name="TextBox 35"/>
          <p:cNvSpPr txBox="1"/>
          <p:nvPr/>
        </p:nvSpPr>
        <p:spPr>
          <a:xfrm>
            <a:off x="4023360" y="5870448"/>
            <a:ext cx="7680960" cy="393192"/>
          </a:xfrm>
          <a:prstGeom prst="rect">
            <a:avLst/>
          </a:prstGeom>
          <a:noFill/>
        </p:spPr>
        <p:txBody>
          <a:bodyPr wrap="square" lIns="0" rIns="0" tIns="0" bIns="0">
            <a:spAutoFit/>
          </a:bodyPr>
          <a:lstStyle/>
          <a:p>
            <a:pPr algn="l"/>
            <a:r>
              <a:rPr sz="1200" b="0">
                <a:solidFill>
                  <a:srgbClr val="1A1A1A"/>
                </a:solidFill>
                <a:latin typeface="Calibri"/>
              </a:rPr>
              <a:t>Docker Compose · Redis 7 · PostgreSQL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System Diagram</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914400" y="2011680"/>
            <a:ext cx="109728" cy="274320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920240"/>
            <a:ext cx="10058400" cy="2926080"/>
          </a:xfrm>
          <a:prstGeom prst="rect">
            <a:avLst/>
          </a:prstGeom>
          <a:noFill/>
        </p:spPr>
        <p:txBody>
          <a:bodyPr wrap="square" lIns="0" rIns="0" tIns="0" bIns="0">
            <a:spAutoFit/>
          </a:bodyPr>
          <a:lstStyle/>
          <a:p>
            <a:pPr algn="l"/>
            <a:r>
              <a:rPr sz="2200" b="0">
                <a:solidFill>
                  <a:srgbClr val="1A1A1A"/>
                </a:solidFill>
                <a:latin typeface="Calibri"/>
              </a:rPr>
              <a:t>Open docs/presentation/FedBookSem_Architecture.drawio in draw.io
or app.diagrams.net for the layered architecture with all services,
endpoints, and data flows.</a:t>
            </a:r>
          </a:p>
        </p:txBody>
      </p:sp>
      <p:sp>
        <p:nvSpPr>
          <p:cNvPr id="9" name="TextBox 8"/>
          <p:cNvSpPr txBox="1"/>
          <p:nvPr/>
        </p:nvSpPr>
        <p:spPr>
          <a:xfrm>
            <a:off x="1280160" y="5120640"/>
            <a:ext cx="10058400" cy="457200"/>
          </a:xfrm>
          <a:prstGeom prst="rect">
            <a:avLst/>
          </a:prstGeom>
          <a:noFill/>
        </p:spPr>
        <p:txBody>
          <a:bodyPr wrap="square" lIns="0" rIns="0" tIns="0" bIns="0">
            <a:spAutoFit/>
          </a:bodyPr>
          <a:lstStyle/>
          <a:p>
            <a:pPr algn="l"/>
            <a:r>
              <a:rPr sz="1300" b="0">
                <a:solidFill>
                  <a:srgbClr val="667085"/>
                </a:solidFill>
                <a:latin typeface="Calibri"/>
              </a:rPr>
              <a:t>— Client · Application · Ingestion · Data · External layers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Layered Architecture — Five Tiers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Client</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React FE (:3000)  ·  Streamlit dashboard (:8501)  ·  remote ActivityPub servers</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Application</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Express backend (:3001)  ·  FastAPI ML service (:8000)  ·  ActivityPub inbox / outbox / WebFinger</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Ingestion</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Reddit / YouTube / Bluesky / Mastodon collectors → entity resolver → sentiment scorer → aggregator</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Data</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Neo4j 5.15 (:7687)  ·  Redis 7 (:6379)  ·  PostgreSQL 16 (:5432)  ·  cached model files on disk</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External</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Open Library  ·  Hardcover GraphQL  ·  HuggingFace Hub  ·  Kaggle 7k  ·  goodbooks-10k  ·  remote AP peers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Request Lifecycle — Login and Feed</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Browser POSTs /api/auth/login → CRA dev proxy (setupProxy.js) forwards to Express :3001.</a:t>
            </a:r>
          </a:p>
          <a:p>
            <a:pPr algn="l">
              <a:spcAft>
                <a:spcPts val="600"/>
              </a:spcAft>
            </a:pPr>
            <a:r>
              <a:rPr sz="1700">
                <a:solidFill>
                  <a:srgbClr val="1A1A1A"/>
                </a:solidFill>
                <a:latin typeface="Calibri"/>
              </a:rPr>
              <a:t>•  Express: MATCH (:Person {username}), bcrypt.compare(password, passwordHash), jwt.sign(actor, JWT_SECRET, '7d').</a:t>
            </a:r>
          </a:p>
          <a:p>
            <a:pPr algn="l">
              <a:spcAft>
                <a:spcPts val="600"/>
              </a:spcAft>
            </a:pPr>
            <a:r>
              <a:rPr sz="1700">
                <a:solidFill>
                  <a:srgbClr val="1A1A1A"/>
                </a:solidFill>
                <a:latin typeface="Calibri"/>
              </a:rPr>
              <a:t>•  JWT stored in localStorage; axios interceptor at src/api/client.js attaches Bearer to every subsequent call.</a:t>
            </a:r>
          </a:p>
          <a:p>
            <a:pPr algn="l">
              <a:spcAft>
                <a:spcPts val="600"/>
              </a:spcAft>
            </a:pPr>
            <a:r>
              <a:rPr sz="1700">
                <a:solidFill>
                  <a:srgbClr val="1A1A1A"/>
                </a:solidFill>
                <a:latin typeface="Calibri"/>
              </a:rPr>
              <a:t>•  GET /api/feed → verifyJwt middleware → single Cypher: MATCH (me)-[:FOLLOWS]-&gt;(f)-[:AUTHORED]-&gt;(r)-[:REVIEWS]-&gt;(b) RETURN ...</a:t>
            </a:r>
          </a:p>
          <a:p>
            <a:pPr algn="l">
              <a:spcAft>
                <a:spcPts val="600"/>
              </a:spcAft>
            </a:pPr>
            <a:r>
              <a:rPr sz="1700">
                <a:solidFill>
                  <a:srgbClr val="1A1A1A"/>
                </a:solidFill>
                <a:latin typeface="Calibri"/>
              </a:rPr>
              <a:t>•  Response JSON hydrated client-side, rendered by Feed page component.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Federation Flow — Outbound Follow</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POST /api/social/follow {targetId: 'acct:bob@remote.social'}.</a:t>
            </a:r>
          </a:p>
          <a:p>
            <a:pPr algn="l">
              <a:spcAft>
                <a:spcPts val="600"/>
              </a:spcAft>
            </a:pPr>
            <a:r>
              <a:rPr sz="1700">
                <a:solidFill>
                  <a:srgbClr val="1A1A1A"/>
                </a:solidFill>
                <a:latin typeface="Calibri"/>
              </a:rPr>
              <a:t>•  backend/src/routes/social.js → WebFinger lookup: GET https://remote.social/.well-known/webfinger?resource=acct:bob@remote.social.</a:t>
            </a:r>
          </a:p>
          <a:p>
            <a:pPr algn="l">
              <a:spcAft>
                <a:spcPts val="600"/>
              </a:spcAft>
            </a:pPr>
            <a:r>
              <a:rPr sz="1700">
                <a:solidFill>
                  <a:srgbClr val="1A1A1A"/>
                </a:solidFill>
                <a:latin typeface="Calibri"/>
              </a:rPr>
              <a:t>•  Fetch actor JSON from returned URL; extract publicKey and inbox.</a:t>
            </a:r>
          </a:p>
          <a:p>
            <a:pPr algn="l">
              <a:spcAft>
                <a:spcPts val="600"/>
              </a:spcAft>
            </a:pPr>
            <a:r>
              <a:rPr sz="1700">
                <a:solidFill>
                  <a:srgbClr val="1A1A1A"/>
                </a:solidFill>
                <a:latin typeface="Calibri"/>
              </a:rPr>
              <a:t>•  activitypub/delivery.js builds Follow activity, canonicalises headers, signs with alice.privateKey (RSA-SHA256).</a:t>
            </a:r>
          </a:p>
          <a:p>
            <a:pPr algn="l">
              <a:spcAft>
                <a:spcPts val="600"/>
              </a:spcAft>
            </a:pPr>
            <a:r>
              <a:rPr sz="1700">
                <a:solidFill>
                  <a:srgbClr val="1A1A1A"/>
                </a:solidFill>
                <a:latin typeface="Calibri"/>
              </a:rPr>
              <a:t>•  Signature header: keyId=&lt;alice.publicKey.id&gt;, algorithm=rsa-sha256, headers=(request-target) host date digest, signature=&lt;b64&gt;.</a:t>
            </a:r>
          </a:p>
          <a:p>
            <a:pPr algn="l">
              <a:spcAft>
                <a:spcPts val="600"/>
              </a:spcAft>
            </a:pPr>
            <a:r>
              <a:rPr sz="1700">
                <a:solidFill>
                  <a:srgbClr val="1A1A1A"/>
                </a:solidFill>
                <a:latin typeface="Calibri"/>
              </a:rPr>
              <a:t>•  POST to bob's inbox with Content-Type application/activity+json; expect 202 Accepted.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Federation Flow — Inbound Activity</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Remote server POSTs Follow / Like / Announce / Create to /inbox.</a:t>
            </a:r>
          </a:p>
          <a:p>
            <a:pPr algn="l">
              <a:spcAft>
                <a:spcPts val="600"/>
              </a:spcAft>
            </a:pPr>
            <a:r>
              <a:rPr sz="1700">
                <a:solidFill>
                  <a:srgbClr val="1A1A1A"/>
                </a:solidFill>
                <a:latin typeface="Calibri"/>
              </a:rPr>
              <a:t>•  backend/src/routes/inbox.js: parse Signature header, fetch remote actor's publicKey via keyId URL.</a:t>
            </a:r>
          </a:p>
          <a:p>
            <a:pPr algn="l">
              <a:spcAft>
                <a:spcPts val="600"/>
              </a:spcAft>
            </a:pPr>
            <a:r>
              <a:rPr sz="1700">
                <a:solidFill>
                  <a:srgbClr val="1A1A1A"/>
                </a:solidFill>
                <a:latin typeface="Calibri"/>
              </a:rPr>
              <a:t>•  Verify canonicalised headers against signature; reject on mismatch.</a:t>
            </a:r>
          </a:p>
          <a:p>
            <a:pPr algn="l">
              <a:spcAft>
                <a:spcPts val="600"/>
              </a:spcAft>
            </a:pPr>
            <a:r>
              <a:rPr sz="1700">
                <a:solidFill>
                  <a:srgbClr val="1A1A1A"/>
                </a:solidFill>
                <a:latin typeface="Calibri"/>
              </a:rPr>
              <a:t>•  Dispatch by activity type: Follow → MERGE (:FOLLOWS) + send Accept; Like → MERGE (:LIKES); Create Review → MERGE (:Review) + REVIEWS edge.</a:t>
            </a:r>
          </a:p>
          <a:p>
            <a:pPr algn="l">
              <a:spcAft>
                <a:spcPts val="600"/>
              </a:spcAft>
            </a:pPr>
            <a:r>
              <a:rPr sz="1700">
                <a:solidFill>
                  <a:srgbClr val="1A1A1A"/>
                </a:solidFill>
                <a:latin typeface="Calibri"/>
              </a:rPr>
              <a:t>•  All writes go through the same Neo4j driver used by the FE routes — one graph, many writers.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Recommender Request Flow — /recommend/similar</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GET /recommend/similar?isbn=X&amp;rerank=ltr&amp;limit=10.</a:t>
            </a:r>
          </a:p>
          <a:p>
            <a:pPr algn="l">
              <a:spcAft>
                <a:spcPts val="600"/>
              </a:spcAft>
            </a:pPr>
            <a:r>
              <a:rPr sz="1700">
                <a:solidFill>
                  <a:srgbClr val="1A1A1A"/>
                </a:solidFill>
                <a:latin typeface="Calibri"/>
              </a:rPr>
              <a:t>•  VectorSearcher: read :Book(embedding) for X (or encode ?text= with all-MiniLM-L6-v2).</a:t>
            </a:r>
          </a:p>
          <a:p>
            <a:pPr algn="l">
              <a:spcAft>
                <a:spcPts val="600"/>
              </a:spcAft>
            </a:pPr>
            <a:r>
              <a:rPr sz="1700">
                <a:solidFill>
                  <a:srgbClr val="1A1A1A"/>
                </a:solidFill>
                <a:latin typeface="Calibri"/>
              </a:rPr>
              <a:t>•  Neo4j: CALL db.index.vector.queryNodes('bookEmbedding', 50, $emb) YIELD node, score.</a:t>
            </a:r>
          </a:p>
          <a:p>
            <a:pPr algn="l">
              <a:spcAft>
                <a:spcPts val="600"/>
              </a:spcAft>
            </a:pPr>
            <a:r>
              <a:rPr sz="1700">
                <a:solidFill>
                  <a:srgbClr val="1A1A1A"/>
                </a:solidFill>
                <a:latin typeface="Calibri"/>
              </a:rPr>
              <a:t>•  ReceptionScorer: MATCH (b)-[:RECEPTION_ON]-&gt;(r) for candidate ISBNs → per-platform sentiment (Reddit .35, YT .25, BS/Ma .20).</a:t>
            </a:r>
          </a:p>
          <a:p>
            <a:pPr algn="l">
              <a:spcAft>
                <a:spcPts val="600"/>
              </a:spcAft>
            </a:pPr>
            <a:r>
              <a:rPr sz="1700">
                <a:solidFill>
                  <a:srgbClr val="1A1A1A"/>
                </a:solidFill>
                <a:latin typeface="Calibri"/>
              </a:rPr>
              <a:t>•  Cross-encoder (bge-reranker-base) computes ce_score for query × candidate pairs.</a:t>
            </a:r>
          </a:p>
          <a:p>
            <a:pPr algn="l">
              <a:spcAft>
                <a:spcPts val="600"/>
              </a:spcAft>
            </a:pPr>
            <a:r>
              <a:rPr sz="1700">
                <a:solidFill>
                  <a:srgbClr val="1A1A1A"/>
                </a:solidFill>
                <a:latin typeface="Calibri"/>
              </a:rPr>
              <a:t>•  LightGBM LambdaRank (ltr.pkl) fuses (sim, cf, reception, diversity, ce, freshness) in fixed FEATURE_ORDER.</a:t>
            </a:r>
          </a:p>
          <a:p>
            <a:pPr algn="l">
              <a:spcAft>
                <a:spcPts val="600"/>
              </a:spcAft>
            </a:pPr>
            <a:r>
              <a:rPr sz="1700">
                <a:solidFill>
                  <a:srgbClr val="1A1A1A"/>
                </a:solidFill>
                <a:latin typeface="Calibri"/>
              </a:rPr>
              <a:t>•  Sort by fused score, take top-N, optional Open Library / Hardcover enrichment layer.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Ingestion Data Flow (privacy-preserving)</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ingest_daily.py --platforms ... --limit N — cron or manual.</a:t>
            </a:r>
          </a:p>
          <a:p>
            <a:pPr algn="l">
              <a:spcAft>
                <a:spcPts val="600"/>
              </a:spcAft>
            </a:pPr>
            <a:r>
              <a:rPr sz="1700">
                <a:solidFill>
                  <a:srgbClr val="1A1A1A"/>
                </a:solidFill>
                <a:latin typeface="Calibri"/>
              </a:rPr>
              <a:t>•  MATCH (b:Book) WHERE b.description IS NOT NULL AND b.thumbnail IS NOT NULL LIMIT $limit.</a:t>
            </a:r>
          </a:p>
          <a:p>
            <a:pPr algn="l">
              <a:spcAft>
                <a:spcPts val="600"/>
              </a:spcAft>
            </a:pPr>
            <a:r>
              <a:rPr sz="1700">
                <a:solidFill>
                  <a:srgbClr val="1A1A1A"/>
                </a:solidFill>
                <a:latin typeface="Calibri"/>
              </a:rPr>
              <a:t>•  For each (book × collector): call platform API (PRAW / YouTube DataAPI / AT Protocol / Mastodon timeline).</a:t>
            </a:r>
          </a:p>
          <a:p>
            <a:pPr algn="l">
              <a:spcAft>
                <a:spcPts val="600"/>
              </a:spcAft>
            </a:pPr>
            <a:r>
              <a:rPr sz="1700">
                <a:solidFill>
                  <a:srgbClr val="1A1A1A"/>
                </a:solidFill>
                <a:latin typeface="Calibri"/>
              </a:rPr>
              <a:t>•  SentimentScorer.batch (twitter-roberta, batch=16) → labels aggregated via scorer.aggregate.</a:t>
            </a:r>
          </a:p>
          <a:p>
            <a:pPr algn="l">
              <a:spcAft>
                <a:spcPts val="600"/>
              </a:spcAft>
            </a:pPr>
            <a:r>
              <a:rPr sz="1700">
                <a:solidFill>
                  <a:srgbClr val="1A1A1A"/>
                </a:solidFill>
                <a:latin typeface="Calibri"/>
              </a:rPr>
              <a:t>•  Persist: MERGE (b)-[:RECEPTION_ON]-&gt;(r:PlatformReception {platform, book_isbn}) SET positive, neutral, negative, mentions, external_ids, ingested_at, expires_at (YouTube +30d), demo=false.</a:t>
            </a:r>
          </a:p>
          <a:p>
            <a:pPr algn="l">
              <a:spcAft>
                <a:spcPts val="600"/>
              </a:spcAft>
            </a:pPr>
            <a:r>
              <a:rPr sz="1700">
                <a:solidFill>
                  <a:srgbClr val="1A1A1A"/>
                </a:solidFill>
                <a:latin typeface="Calibri"/>
              </a:rPr>
              <a:t>•  Raw mention text never written; external_ids kept only for deletion sweeps.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Neo4j Data Model — Nodes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:Person</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id, username, displayName, bio, domain, publicKey, privateKey, passwordHash, avatarUrl, createdAt</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:Book</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id, isbn, title, author, year, description, thumbnail, subjects, embedding (vector 384-d), goodbooksBookId, sourceCatalog</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:Review</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id, content, rating (1-5), published, activityId, seedKey?</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:Annotation</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id, motivation, bodyValue, exactText, prefix, suffix, startOffset, endOffset, bookSource, created, seedKey?</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:PlatformReception</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platform, book_isbn, positive, neutral, negative, mentions, external_ids, ingested_at, expires_at, demo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Neo4j Data Model — Relationships &amp; Indexes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Social</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(:Person)-[:FOLLOWS]-&gt;(:Person)  ·  (:Person)-[:LIKES]-&gt;(:Review)</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Authoring</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(:Person)-[:AUTHORED]-&gt;(:Review)  ·  (:Person)-[:ANNOTATED]-&gt;(:Annotation)</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Content targets</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(:Review)-[:REVIEWS]-&gt;(:Book)  ·  (:Annotation)-[:ON_SOURCE]-&gt;(:Book)</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Reception</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(:Book)-[:RECEPTION_ON]-&gt;(:PlatformReception)</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Constraints</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UNIQUE :Person(username)  ·  UNIQUE :Book(isbn)</a:t>
            </a:r>
          </a:p>
        </p:txBody>
      </p:sp>
      <p:sp>
        <p:nvSpPr>
          <p:cNvPr id="22" name="Rectangle 21"/>
          <p:cNvSpPr/>
          <p:nvPr/>
        </p:nvSpPr>
        <p:spPr>
          <a:xfrm>
            <a:off x="640080" y="3995927"/>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23359"/>
            <a:ext cx="3200400" cy="411480"/>
          </a:xfrm>
          <a:prstGeom prst="rect">
            <a:avLst/>
          </a:prstGeom>
          <a:noFill/>
        </p:spPr>
        <p:txBody>
          <a:bodyPr wrap="square" lIns="0" rIns="0" tIns="0" bIns="0">
            <a:spAutoFit/>
          </a:bodyPr>
          <a:lstStyle/>
          <a:p>
            <a:pPr algn="l"/>
            <a:r>
              <a:rPr sz="1300" b="1">
                <a:solidFill>
                  <a:srgbClr val="1E2A44"/>
                </a:solidFill>
                <a:latin typeface="Calibri"/>
              </a:rPr>
              <a:t>Vector index</a:t>
            </a:r>
          </a:p>
        </p:txBody>
      </p:sp>
      <p:sp>
        <p:nvSpPr>
          <p:cNvPr id="24" name="TextBox 23"/>
          <p:cNvSpPr txBox="1"/>
          <p:nvPr/>
        </p:nvSpPr>
        <p:spPr>
          <a:xfrm>
            <a:off x="4023360" y="4023359"/>
            <a:ext cx="7680960" cy="411480"/>
          </a:xfrm>
          <a:prstGeom prst="rect">
            <a:avLst/>
          </a:prstGeom>
          <a:noFill/>
        </p:spPr>
        <p:txBody>
          <a:bodyPr wrap="square" lIns="0" rIns="0" tIns="0" bIns="0">
            <a:spAutoFit/>
          </a:bodyPr>
          <a:lstStyle/>
          <a:p>
            <a:pPr algn="l"/>
            <a:r>
              <a:rPr sz="1200" b="0">
                <a:solidFill>
                  <a:srgbClr val="1A1A1A"/>
                </a:solidFill>
                <a:latin typeface="Calibri"/>
              </a:rPr>
              <a:t>bookEmbedding on :Book(embedding), cosine, 384 dims (MiniLM-L6-v2)</a:t>
            </a:r>
          </a:p>
        </p:txBody>
      </p:sp>
      <p:sp>
        <p:nvSpPr>
          <p:cNvPr id="25" name="Rectangle 24"/>
          <p:cNvSpPr/>
          <p:nvPr/>
        </p:nvSpPr>
        <p:spPr>
          <a:xfrm>
            <a:off x="640080" y="449884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526280"/>
            <a:ext cx="3200400" cy="411480"/>
          </a:xfrm>
          <a:prstGeom prst="rect">
            <a:avLst/>
          </a:prstGeom>
          <a:noFill/>
        </p:spPr>
        <p:txBody>
          <a:bodyPr wrap="square" lIns="0" rIns="0" tIns="0" bIns="0">
            <a:spAutoFit/>
          </a:bodyPr>
          <a:lstStyle/>
          <a:p>
            <a:pPr algn="l"/>
            <a:r>
              <a:rPr sz="1300" b="1">
                <a:solidFill>
                  <a:srgbClr val="1E2A44"/>
                </a:solidFill>
                <a:latin typeface="Calibri"/>
              </a:rPr>
              <a:t>GDS</a:t>
            </a:r>
          </a:p>
        </p:txBody>
      </p:sp>
      <p:sp>
        <p:nvSpPr>
          <p:cNvPr id="27" name="TextBox 26"/>
          <p:cNvSpPr txBox="1"/>
          <p:nvPr/>
        </p:nvSpPr>
        <p:spPr>
          <a:xfrm>
            <a:off x="4023360" y="4526280"/>
            <a:ext cx="7680960" cy="411480"/>
          </a:xfrm>
          <a:prstGeom prst="rect">
            <a:avLst/>
          </a:prstGeom>
          <a:noFill/>
        </p:spPr>
        <p:txBody>
          <a:bodyPr wrap="square" lIns="0" rIns="0" tIns="0" bIns="0">
            <a:spAutoFit/>
          </a:bodyPr>
          <a:lstStyle/>
          <a:p>
            <a:pPr algn="l"/>
            <a:r>
              <a:rPr sz="1200" b="0">
                <a:solidFill>
                  <a:srgbClr val="1A1A1A"/>
                </a:solidFill>
                <a:latin typeface="Calibri"/>
              </a:rPr>
              <a:t>projection :Person → :Person for personalised PageRank in /recommend/graph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Deployment Topology</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React FE</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native  ·  react-scripts start  ·  :3000  ·  CRA proxy → :3001</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Express BE</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native  ·  nodemon src/app.js  ·  :3001</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Neo4j 5.15</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docker  ·  fedbooksem-neo4j  ·  :7474 + :7687  ·  APOC + GDS  ·  volumes: neo4j_data, neo4j_logs</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Redis 7</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docker  ·  fedbooksem-redis  ·  :6379</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PostgreSQL 16</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docker  ·  fedbooksem-postgres  ·  :5432  ·  volume: postgres_data</a:t>
            </a:r>
          </a:p>
        </p:txBody>
      </p:sp>
      <p:sp>
        <p:nvSpPr>
          <p:cNvPr id="22" name="Rectangle 21"/>
          <p:cNvSpPr/>
          <p:nvPr/>
        </p:nvSpPr>
        <p:spPr>
          <a:xfrm>
            <a:off x="640080" y="3995927"/>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23359"/>
            <a:ext cx="3200400" cy="411480"/>
          </a:xfrm>
          <a:prstGeom prst="rect">
            <a:avLst/>
          </a:prstGeom>
          <a:noFill/>
        </p:spPr>
        <p:txBody>
          <a:bodyPr wrap="square" lIns="0" rIns="0" tIns="0" bIns="0">
            <a:spAutoFit/>
          </a:bodyPr>
          <a:lstStyle/>
          <a:p>
            <a:pPr algn="l"/>
            <a:r>
              <a:rPr sz="1300" b="1">
                <a:solidFill>
                  <a:srgbClr val="1E2A44"/>
                </a:solidFill>
                <a:latin typeface="Calibri"/>
              </a:rPr>
              <a:t>ML service</a:t>
            </a:r>
          </a:p>
        </p:txBody>
      </p:sp>
      <p:sp>
        <p:nvSpPr>
          <p:cNvPr id="24" name="TextBox 23"/>
          <p:cNvSpPr txBox="1"/>
          <p:nvPr/>
        </p:nvSpPr>
        <p:spPr>
          <a:xfrm>
            <a:off x="4023360" y="4023359"/>
            <a:ext cx="7680960" cy="411480"/>
          </a:xfrm>
          <a:prstGeom prst="rect">
            <a:avLst/>
          </a:prstGeom>
          <a:noFill/>
        </p:spPr>
        <p:txBody>
          <a:bodyPr wrap="square" lIns="0" rIns="0" tIns="0" bIns="0">
            <a:spAutoFit/>
          </a:bodyPr>
          <a:lstStyle/>
          <a:p>
            <a:pPr algn="l"/>
            <a:r>
              <a:rPr sz="1200" b="0">
                <a:solidFill>
                  <a:srgbClr val="1A1A1A"/>
                </a:solidFill>
                <a:latin typeface="Calibri"/>
              </a:rPr>
              <a:t>docker (built)  ·  fedbook-ml  ·  :8000  ·  volumes: ml_hf_cache, ml_torch_cache, ./ml-service</a:t>
            </a:r>
          </a:p>
        </p:txBody>
      </p:sp>
      <p:sp>
        <p:nvSpPr>
          <p:cNvPr id="25" name="Rectangle 24"/>
          <p:cNvSpPr/>
          <p:nvPr/>
        </p:nvSpPr>
        <p:spPr>
          <a:xfrm>
            <a:off x="640080" y="449884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526280"/>
            <a:ext cx="3200400" cy="411480"/>
          </a:xfrm>
          <a:prstGeom prst="rect">
            <a:avLst/>
          </a:prstGeom>
          <a:noFill/>
        </p:spPr>
        <p:txBody>
          <a:bodyPr wrap="square" lIns="0" rIns="0" tIns="0" bIns="0">
            <a:spAutoFit/>
          </a:bodyPr>
          <a:lstStyle/>
          <a:p>
            <a:pPr algn="l"/>
            <a:r>
              <a:rPr sz="1300" b="1">
                <a:solidFill>
                  <a:srgbClr val="1E2A44"/>
                </a:solidFill>
                <a:latin typeface="Calibri"/>
              </a:rPr>
              <a:t>Dashboard</a:t>
            </a:r>
          </a:p>
        </p:txBody>
      </p:sp>
      <p:sp>
        <p:nvSpPr>
          <p:cNvPr id="27" name="TextBox 26"/>
          <p:cNvSpPr txBox="1"/>
          <p:nvPr/>
        </p:nvSpPr>
        <p:spPr>
          <a:xfrm>
            <a:off x="4023360" y="4526280"/>
            <a:ext cx="7680960" cy="411480"/>
          </a:xfrm>
          <a:prstGeom prst="rect">
            <a:avLst/>
          </a:prstGeom>
          <a:noFill/>
        </p:spPr>
        <p:txBody>
          <a:bodyPr wrap="square" lIns="0" rIns="0" tIns="0" bIns="0">
            <a:spAutoFit/>
          </a:bodyPr>
          <a:lstStyle/>
          <a:p>
            <a:pPr algn="l"/>
            <a:r>
              <a:rPr sz="1200" b="0">
                <a:solidFill>
                  <a:srgbClr val="1A1A1A"/>
                </a:solidFill>
                <a:latin typeface="Calibri"/>
              </a:rPr>
              <a:t>docker (built)  ·  fedbook-ml-dashboard  ·  :8501  ·  streamlit entrypoint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Port Map (Host → Container / Process)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3000</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React CRA dev server (native)</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3001</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Express backend (native)</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7474</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Neo4j HTTP browser UI (docker)</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7687</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Neo4j bolt (docker)</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6379</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Redis (docker)</a:t>
            </a:r>
          </a:p>
        </p:txBody>
      </p:sp>
      <p:sp>
        <p:nvSpPr>
          <p:cNvPr id="22" name="Rectangle 21"/>
          <p:cNvSpPr/>
          <p:nvPr/>
        </p:nvSpPr>
        <p:spPr>
          <a:xfrm>
            <a:off x="640080" y="3995927"/>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23359"/>
            <a:ext cx="3200400" cy="411480"/>
          </a:xfrm>
          <a:prstGeom prst="rect">
            <a:avLst/>
          </a:prstGeom>
          <a:noFill/>
        </p:spPr>
        <p:txBody>
          <a:bodyPr wrap="square" lIns="0" rIns="0" tIns="0" bIns="0">
            <a:spAutoFit/>
          </a:bodyPr>
          <a:lstStyle/>
          <a:p>
            <a:pPr algn="l"/>
            <a:r>
              <a:rPr sz="1300" b="1">
                <a:solidFill>
                  <a:srgbClr val="1E2A44"/>
                </a:solidFill>
                <a:latin typeface="Calibri"/>
              </a:rPr>
              <a:t>5432</a:t>
            </a:r>
          </a:p>
        </p:txBody>
      </p:sp>
      <p:sp>
        <p:nvSpPr>
          <p:cNvPr id="24" name="TextBox 23"/>
          <p:cNvSpPr txBox="1"/>
          <p:nvPr/>
        </p:nvSpPr>
        <p:spPr>
          <a:xfrm>
            <a:off x="4023360" y="4023359"/>
            <a:ext cx="7680960" cy="411480"/>
          </a:xfrm>
          <a:prstGeom prst="rect">
            <a:avLst/>
          </a:prstGeom>
          <a:noFill/>
        </p:spPr>
        <p:txBody>
          <a:bodyPr wrap="square" lIns="0" rIns="0" tIns="0" bIns="0">
            <a:spAutoFit/>
          </a:bodyPr>
          <a:lstStyle/>
          <a:p>
            <a:pPr algn="l"/>
            <a:r>
              <a:rPr sz="1200" b="0">
                <a:solidFill>
                  <a:srgbClr val="1A1A1A"/>
                </a:solidFill>
                <a:latin typeface="Calibri"/>
              </a:rPr>
              <a:t>PostgreSQL (docker)</a:t>
            </a:r>
          </a:p>
        </p:txBody>
      </p:sp>
      <p:sp>
        <p:nvSpPr>
          <p:cNvPr id="25" name="Rectangle 24"/>
          <p:cNvSpPr/>
          <p:nvPr/>
        </p:nvSpPr>
        <p:spPr>
          <a:xfrm>
            <a:off x="640080" y="449884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526280"/>
            <a:ext cx="3200400" cy="411480"/>
          </a:xfrm>
          <a:prstGeom prst="rect">
            <a:avLst/>
          </a:prstGeom>
          <a:noFill/>
        </p:spPr>
        <p:txBody>
          <a:bodyPr wrap="square" lIns="0" rIns="0" tIns="0" bIns="0">
            <a:spAutoFit/>
          </a:bodyPr>
          <a:lstStyle/>
          <a:p>
            <a:pPr algn="l"/>
            <a:r>
              <a:rPr sz="1300" b="1">
                <a:solidFill>
                  <a:srgbClr val="1E2A44"/>
                </a:solidFill>
                <a:latin typeface="Calibri"/>
              </a:rPr>
              <a:t>8000</a:t>
            </a:r>
          </a:p>
        </p:txBody>
      </p:sp>
      <p:sp>
        <p:nvSpPr>
          <p:cNvPr id="27" name="TextBox 26"/>
          <p:cNvSpPr txBox="1"/>
          <p:nvPr/>
        </p:nvSpPr>
        <p:spPr>
          <a:xfrm>
            <a:off x="4023360" y="4526280"/>
            <a:ext cx="7680960" cy="411480"/>
          </a:xfrm>
          <a:prstGeom prst="rect">
            <a:avLst/>
          </a:prstGeom>
          <a:noFill/>
        </p:spPr>
        <p:txBody>
          <a:bodyPr wrap="square" lIns="0" rIns="0" tIns="0" bIns="0">
            <a:spAutoFit/>
          </a:bodyPr>
          <a:lstStyle/>
          <a:p>
            <a:pPr algn="l"/>
            <a:r>
              <a:rPr sz="1200" b="0">
                <a:solidFill>
                  <a:srgbClr val="1A1A1A"/>
                </a:solidFill>
                <a:latin typeface="Calibri"/>
              </a:rPr>
              <a:t>FastAPI ML service (docker)</a:t>
            </a:r>
          </a:p>
        </p:txBody>
      </p:sp>
      <p:sp>
        <p:nvSpPr>
          <p:cNvPr id="28" name="Rectangle 27"/>
          <p:cNvSpPr/>
          <p:nvPr/>
        </p:nvSpPr>
        <p:spPr>
          <a:xfrm>
            <a:off x="640080" y="500176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029200"/>
            <a:ext cx="3200400" cy="411480"/>
          </a:xfrm>
          <a:prstGeom prst="rect">
            <a:avLst/>
          </a:prstGeom>
          <a:noFill/>
        </p:spPr>
        <p:txBody>
          <a:bodyPr wrap="square" lIns="0" rIns="0" tIns="0" bIns="0">
            <a:spAutoFit/>
          </a:bodyPr>
          <a:lstStyle/>
          <a:p>
            <a:pPr algn="l"/>
            <a:r>
              <a:rPr sz="1300" b="1">
                <a:solidFill>
                  <a:srgbClr val="1E2A44"/>
                </a:solidFill>
                <a:latin typeface="Calibri"/>
              </a:rPr>
              <a:t>8501</a:t>
            </a:r>
          </a:p>
        </p:txBody>
      </p:sp>
      <p:sp>
        <p:nvSpPr>
          <p:cNvPr id="30" name="TextBox 29"/>
          <p:cNvSpPr txBox="1"/>
          <p:nvPr/>
        </p:nvSpPr>
        <p:spPr>
          <a:xfrm>
            <a:off x="4023360" y="5029200"/>
            <a:ext cx="7680960" cy="411480"/>
          </a:xfrm>
          <a:prstGeom prst="rect">
            <a:avLst/>
          </a:prstGeom>
          <a:noFill/>
        </p:spPr>
        <p:txBody>
          <a:bodyPr wrap="square" lIns="0" rIns="0" tIns="0" bIns="0">
            <a:spAutoFit/>
          </a:bodyPr>
          <a:lstStyle/>
          <a:p>
            <a:pPr algn="l"/>
            <a:r>
              <a:rPr sz="1200" b="0">
                <a:solidFill>
                  <a:srgbClr val="1A1A1A"/>
                </a:solidFill>
                <a:latin typeface="Calibri"/>
              </a:rPr>
              <a:t>Streamlit dashboard (docker)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Model Registry (loaded at ML startup)</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all-MiniLM-L6-v2</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sentence-transformers  ·  semantic embeddings (384-d)  ·  ~90 MB  ·  ml_hf_cache</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bge-reranker-base</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BAAI cross-encoder  ·  query × candidate re-scoring  ·  ~500 MB  ·  ml_hf_cache</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twitter-roberta-base-sentiment-latest</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CardiffNLP RoBERTa  ·  sentiment for ingestion  ·  ~500 MB  ·  ml_hf_cache</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lightfm.pkl</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LightFM WARP  ·  collaborative filtering  ·  ~10 MB  ·  ml-service/models/  ·  trained off-machine</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ltr.pkl</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LightGBM LambdaRank  ·  learned rank fusion  ·  ~1 MB  ·  ml-service/models/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Environment Configuration</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DOMAIN, BASE_URL</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Federation identity — used as ActivityPub actor IDs (e.g. http://localhost:3001)</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NEO4J_URI / USER / PASSWORD</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Shared by backend and ML — bolt://localhost:7687 native, bolt://neo4j:7687 in-docker</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JWT_SECRET</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Backend HS256 signing key — required or /api/auth/login crashes</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ML_SERVICE_URL</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Backend → ML gateway (http://ml-service:8000 in docker network)</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YOUTUBE_API_KEY / REDDIT_CLIENT_ID+SECRET / BSKY_HANDLE+APP_PASSWORD</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Ingestion auth (Bluesky and Mastodon work anonymously)</a:t>
            </a:r>
          </a:p>
        </p:txBody>
      </p:sp>
      <p:sp>
        <p:nvSpPr>
          <p:cNvPr id="22" name="Rectangle 21"/>
          <p:cNvSpPr/>
          <p:nvPr/>
        </p:nvSpPr>
        <p:spPr>
          <a:xfrm>
            <a:off x="640080" y="3995927"/>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23359"/>
            <a:ext cx="3200400" cy="411480"/>
          </a:xfrm>
          <a:prstGeom prst="rect">
            <a:avLst/>
          </a:prstGeom>
          <a:noFill/>
        </p:spPr>
        <p:txBody>
          <a:bodyPr wrap="square" lIns="0" rIns="0" tIns="0" bIns="0">
            <a:spAutoFit/>
          </a:bodyPr>
          <a:lstStyle/>
          <a:p>
            <a:pPr algn="l"/>
            <a:r>
              <a:rPr sz="1300" b="1">
                <a:solidFill>
                  <a:srgbClr val="1E2A44"/>
                </a:solidFill>
                <a:latin typeface="Calibri"/>
              </a:rPr>
              <a:t>HARDCOVER_API_TOKEN</a:t>
            </a:r>
          </a:p>
        </p:txBody>
      </p:sp>
      <p:sp>
        <p:nvSpPr>
          <p:cNvPr id="24" name="TextBox 23"/>
          <p:cNvSpPr txBox="1"/>
          <p:nvPr/>
        </p:nvSpPr>
        <p:spPr>
          <a:xfrm>
            <a:off x="4023360" y="4023359"/>
            <a:ext cx="7680960" cy="411480"/>
          </a:xfrm>
          <a:prstGeom prst="rect">
            <a:avLst/>
          </a:prstGeom>
          <a:noFill/>
        </p:spPr>
        <p:txBody>
          <a:bodyPr wrap="square" lIns="0" rIns="0" tIns="0" bIns="0">
            <a:spAutoFit/>
          </a:bodyPr>
          <a:lstStyle/>
          <a:p>
            <a:pPr algn="l"/>
            <a:r>
              <a:rPr sz="1200" b="0">
                <a:solidFill>
                  <a:srgbClr val="1A1A1A"/>
                </a:solidFill>
                <a:latin typeface="Calibri"/>
              </a:rPr>
              <a:t>Optional — live star ratings in book cards</a:t>
            </a:r>
          </a:p>
        </p:txBody>
      </p:sp>
      <p:sp>
        <p:nvSpPr>
          <p:cNvPr id="25" name="Rectangle 24"/>
          <p:cNvSpPr/>
          <p:nvPr/>
        </p:nvSpPr>
        <p:spPr>
          <a:xfrm>
            <a:off x="640080" y="449884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526280"/>
            <a:ext cx="3200400" cy="411480"/>
          </a:xfrm>
          <a:prstGeom prst="rect">
            <a:avLst/>
          </a:prstGeom>
          <a:noFill/>
        </p:spPr>
        <p:txBody>
          <a:bodyPr wrap="square" lIns="0" rIns="0" tIns="0" bIns="0">
            <a:spAutoFit/>
          </a:bodyPr>
          <a:lstStyle/>
          <a:p>
            <a:pPr algn="l"/>
            <a:r>
              <a:rPr sz="1300" b="1">
                <a:solidFill>
                  <a:srgbClr val="1E2A44"/>
                </a:solidFill>
                <a:latin typeface="Calibri"/>
              </a:rPr>
              <a:t>MASTODON_INSTANCES</a:t>
            </a:r>
          </a:p>
        </p:txBody>
      </p:sp>
      <p:sp>
        <p:nvSpPr>
          <p:cNvPr id="27" name="TextBox 26"/>
          <p:cNvSpPr txBox="1"/>
          <p:nvPr/>
        </p:nvSpPr>
        <p:spPr>
          <a:xfrm>
            <a:off x="4023360" y="4526280"/>
            <a:ext cx="7680960" cy="411480"/>
          </a:xfrm>
          <a:prstGeom prst="rect">
            <a:avLst/>
          </a:prstGeom>
          <a:noFill/>
        </p:spPr>
        <p:txBody>
          <a:bodyPr wrap="square" lIns="0" rIns="0" tIns="0" bIns="0">
            <a:spAutoFit/>
          </a:bodyPr>
          <a:lstStyle/>
          <a:p>
            <a:pPr algn="l"/>
            <a:r>
              <a:rPr sz="1200" b="0">
                <a:solidFill>
                  <a:srgbClr val="1A1A1A"/>
                </a:solidFill>
                <a:latin typeface="Calibri"/>
              </a:rPr>
              <a:t>Comma-separated hashtag-timeline hosts (default: mastodon.social, ohai.social)</a:t>
            </a:r>
          </a:p>
        </p:txBody>
      </p:sp>
      <p:sp>
        <p:nvSpPr>
          <p:cNvPr id="28" name="Rectangle 27"/>
          <p:cNvSpPr/>
          <p:nvPr/>
        </p:nvSpPr>
        <p:spPr>
          <a:xfrm>
            <a:off x="640080" y="500176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029200"/>
            <a:ext cx="3200400" cy="411480"/>
          </a:xfrm>
          <a:prstGeom prst="rect">
            <a:avLst/>
          </a:prstGeom>
          <a:noFill/>
        </p:spPr>
        <p:txBody>
          <a:bodyPr wrap="square" lIns="0" rIns="0" tIns="0" bIns="0">
            <a:spAutoFit/>
          </a:bodyPr>
          <a:lstStyle/>
          <a:p>
            <a:pPr algn="l"/>
            <a:r>
              <a:rPr sz="1300" b="1">
                <a:solidFill>
                  <a:srgbClr val="1E2A44"/>
                </a:solidFill>
                <a:latin typeface="Calibri"/>
              </a:rPr>
              <a:t>HF_HUB_OFFLINE, TRANSFORMERS_OFFLINE</a:t>
            </a:r>
          </a:p>
        </p:txBody>
      </p:sp>
      <p:sp>
        <p:nvSpPr>
          <p:cNvPr id="30" name="TextBox 29"/>
          <p:cNvSpPr txBox="1"/>
          <p:nvPr/>
        </p:nvSpPr>
        <p:spPr>
          <a:xfrm>
            <a:off x="4023360" y="5029200"/>
            <a:ext cx="7680960" cy="411480"/>
          </a:xfrm>
          <a:prstGeom prst="rect">
            <a:avLst/>
          </a:prstGeom>
          <a:noFill/>
        </p:spPr>
        <p:txBody>
          <a:bodyPr wrap="square" lIns="0" rIns="0" tIns="0" bIns="0">
            <a:spAutoFit/>
          </a:bodyPr>
          <a:lstStyle/>
          <a:p>
            <a:pPr algn="l"/>
            <a:r>
              <a:rPr sz="1200" b="0">
                <a:solidFill>
                  <a:srgbClr val="1A1A1A"/>
                </a:solidFill>
                <a:latin typeface="Calibri"/>
              </a:rPr>
              <a:t>Force cached HuggingFace weights — no network at startup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Security &amp; Signature Design</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Signing keys — RSA-2048 pair generated at user creation by node-forge, stored on the :Person node (publicKey + privateKey).</a:t>
            </a:r>
          </a:p>
          <a:p>
            <a:pPr algn="l">
              <a:spcAft>
                <a:spcPts val="600"/>
              </a:spcAft>
            </a:pPr>
            <a:r>
              <a:rPr sz="1700">
                <a:solidFill>
                  <a:srgbClr val="1A1A1A"/>
                </a:solidFill>
                <a:latin typeface="Calibri"/>
              </a:rPr>
              <a:t>•  Outbound activity — HTTP Signatures over (request-target) host date digest; algorithm=rsa-sha256; keyId links to publicKey URL.</a:t>
            </a:r>
          </a:p>
          <a:p>
            <a:pPr algn="l">
              <a:spcAft>
                <a:spcPts val="600"/>
              </a:spcAft>
            </a:pPr>
            <a:r>
              <a:rPr sz="1700">
                <a:solidFill>
                  <a:srgbClr val="1A1A1A"/>
                </a:solidFill>
                <a:latin typeface="Calibri"/>
              </a:rPr>
              <a:t>•  Inbound activity — /inbox fetches remote actor's publicKey via keyId, verifies canonicalised headers, rejects on mismatch.</a:t>
            </a:r>
          </a:p>
          <a:p>
            <a:pPr algn="l">
              <a:spcAft>
                <a:spcPts val="600"/>
              </a:spcAft>
            </a:pPr>
            <a:r>
              <a:rPr sz="1700">
                <a:solidFill>
                  <a:srgbClr val="1A1A1A"/>
                </a:solidFill>
                <a:latin typeface="Calibri"/>
              </a:rPr>
              <a:t>•  JWT — HS256 with JWT_SECRET, 7-day expiry; payload = {id, username, displayName, bio, domain, avatarUrl}.</a:t>
            </a:r>
          </a:p>
          <a:p>
            <a:pPr algn="l">
              <a:spcAft>
                <a:spcPts val="600"/>
              </a:spcAft>
            </a:pPr>
            <a:r>
              <a:rPr sz="1700">
                <a:solidFill>
                  <a:srgbClr val="1A1A1A"/>
                </a:solidFill>
                <a:latin typeface="Calibri"/>
              </a:rPr>
              <a:t>•  Passwords — bcryptjs, cost factor 12; comparison in constant time.</a:t>
            </a:r>
          </a:p>
          <a:p>
            <a:pPr algn="l">
              <a:spcAft>
                <a:spcPts val="600"/>
              </a:spcAft>
            </a:pPr>
            <a:r>
              <a:rPr sz="1700">
                <a:solidFill>
                  <a:srgbClr val="1A1A1A"/>
                </a:solidFill>
                <a:latin typeface="Calibri"/>
              </a:rPr>
              <a:t>•  Helmet middleware sets CSP, HSTS, X-Frame-Options, etc.; response headers confirm.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Data Contracts (JSON-LD / JSON shapes)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Actor (AP)</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{@context, type: "Person", id, preferredUsername, inbox, outbox, followers, following, publicKey: {id, owner, publicKeyPem}}</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Follow (AP)</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{@context, type: "Follow", actor, object: &lt;target actor URL&gt;, id}</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Web Annotation</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{@context, type: "Annotation", motivation, body: {type: "TextualBody", value}, target: {source, selector: [TextQuoteSelector, TextPositionSelector]}}</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PlatformReception</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{platform, book_isbn, positive, neutral, negative, mentions, external_ids, ingested_at, expires_at, demo}</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JWT payload</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{id, username, displayName, bio, domain, avatarUrl, iat, exp}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Express Backend — Route Groups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/api/auth — POST /login → JWT (7d) signed with process.env.JWT_SECRET.</a:t>
            </a:r>
          </a:p>
          <a:p>
            <a:pPr algn="l">
              <a:spcAft>
                <a:spcPts val="600"/>
              </a:spcAft>
            </a:pPr>
            <a:r>
              <a:rPr sz="1700">
                <a:solidFill>
                  <a:srgbClr val="1A1A1A"/>
                </a:solidFill>
                <a:latin typeface="Calibri"/>
              </a:rPr>
              <a:t>•  /api/reviews — CRUD + like + announce + replies; federates via ActivityPub CREATE.</a:t>
            </a:r>
          </a:p>
          <a:p>
            <a:pPr algn="l">
              <a:spcAft>
                <a:spcPts val="600"/>
              </a:spcAft>
            </a:pPr>
            <a:r>
              <a:rPr sz="1700">
                <a:solidFill>
                  <a:srgbClr val="1A1A1A"/>
                </a:solidFill>
                <a:latin typeface="Calibri"/>
              </a:rPr>
              <a:t>•  /api/annotations — W3C Web Annotation CRUD with TextQuote + TextPosition selectors.</a:t>
            </a:r>
          </a:p>
          <a:p>
            <a:pPr algn="l">
              <a:spcAft>
                <a:spcPts val="600"/>
              </a:spcAft>
            </a:pPr>
            <a:r>
              <a:rPr sz="1700">
                <a:solidFill>
                  <a:srgbClr val="1A1A1A"/>
                </a:solidFill>
                <a:latin typeface="Calibri"/>
              </a:rPr>
              <a:t>•  /api/feed — personalised, all, recommendations, liked-by-followed.</a:t>
            </a:r>
          </a:p>
          <a:p>
            <a:pPr algn="l">
              <a:spcAft>
                <a:spcPts val="600"/>
              </a:spcAft>
            </a:pPr>
            <a:r>
              <a:rPr sz="1700">
                <a:solidFill>
                  <a:srgbClr val="1A1A1A"/>
                </a:solidFill>
                <a:latin typeface="Calibri"/>
              </a:rPr>
              <a:t>•  /api/books, /api/users, /api/social, /api/covers (SVG cover generator).</a:t>
            </a:r>
          </a:p>
          <a:p>
            <a:pPr algn="l">
              <a:spcAft>
                <a:spcPts val="600"/>
              </a:spcAft>
            </a:pPr>
            <a:r>
              <a:rPr sz="1700">
                <a:solidFill>
                  <a:srgbClr val="1A1A1A"/>
                </a:solidFill>
                <a:latin typeface="Calibri"/>
              </a:rPr>
              <a:t>•  /users/:u, /inbox, /.well-known/webfinger — ActivityPub actor + WebFinger surface.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React Frontend — Composition</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Create React App with a custom setupProxy.js forwarding /api, /avatars, /users, /books, /.well-known, /inbox → :3001.</a:t>
            </a:r>
          </a:p>
          <a:p>
            <a:pPr algn="l">
              <a:spcAft>
                <a:spcPts val="600"/>
              </a:spcAft>
            </a:pPr>
            <a:r>
              <a:rPr sz="1700">
                <a:solidFill>
                  <a:srgbClr val="1A1A1A"/>
                </a:solidFill>
                <a:latin typeface="Calibri"/>
              </a:rPr>
              <a:t>•  Single axios client (src/api/client.js) with a JWT bearer interceptor.</a:t>
            </a:r>
          </a:p>
          <a:p>
            <a:pPr algn="l">
              <a:spcAft>
                <a:spcPts val="600"/>
              </a:spcAft>
            </a:pPr>
            <a:r>
              <a:rPr sz="1700">
                <a:solidFill>
                  <a:srgbClr val="1A1A1A"/>
                </a:solidFill>
                <a:latin typeface="Calibri"/>
              </a:rPr>
              <a:t>•  React Router v6 with pages: Feed, Book, BookReader, Profile, Login, Register, Followers, Following, User.</a:t>
            </a:r>
          </a:p>
          <a:p>
            <a:pPr algn="l">
              <a:spcAft>
                <a:spcPts val="600"/>
              </a:spcAft>
            </a:pPr>
            <a:r>
              <a:rPr sz="1700">
                <a:solidFill>
                  <a:srgbClr val="1A1A1A"/>
                </a:solidFill>
                <a:latin typeface="Calibri"/>
              </a:rPr>
              <a:t>•  Custom design system — Playfair Display + DM Sans over CSS variables.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ML Service — FastAPI Endpoints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GET /health</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Model load state (transformer, cross-encoder, LightFM, LTR)</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GET /books/search</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Fuzzy title / author lookup</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GET /books/details</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Catalogue + reception + optional live enrichment</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GET /recommend/similar</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Semantic k-NN with optional cross-encoder / linear / LTR re-rank</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GET /recommend/cf</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LightFM WARP — 503 if lightfm.pkl missing</a:t>
            </a:r>
          </a:p>
        </p:txBody>
      </p:sp>
      <p:sp>
        <p:nvSpPr>
          <p:cNvPr id="22" name="Rectangle 21"/>
          <p:cNvSpPr/>
          <p:nvPr/>
        </p:nvSpPr>
        <p:spPr>
          <a:xfrm>
            <a:off x="640080" y="3995927"/>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23359"/>
            <a:ext cx="3200400" cy="411480"/>
          </a:xfrm>
          <a:prstGeom prst="rect">
            <a:avLst/>
          </a:prstGeom>
          <a:noFill/>
        </p:spPr>
        <p:txBody>
          <a:bodyPr wrap="square" lIns="0" rIns="0" tIns="0" bIns="0">
            <a:spAutoFit/>
          </a:bodyPr>
          <a:lstStyle/>
          <a:p>
            <a:pPr algn="l"/>
            <a:r>
              <a:rPr sz="1300" b="1">
                <a:solidFill>
                  <a:srgbClr val="1E2A44"/>
                </a:solidFill>
                <a:latin typeface="Calibri"/>
              </a:rPr>
              <a:t>GET /recommend/graph</a:t>
            </a:r>
          </a:p>
        </p:txBody>
      </p:sp>
      <p:sp>
        <p:nvSpPr>
          <p:cNvPr id="24" name="TextBox 23"/>
          <p:cNvSpPr txBox="1"/>
          <p:nvPr/>
        </p:nvSpPr>
        <p:spPr>
          <a:xfrm>
            <a:off x="4023360" y="4023359"/>
            <a:ext cx="7680960" cy="411480"/>
          </a:xfrm>
          <a:prstGeom prst="rect">
            <a:avLst/>
          </a:prstGeom>
          <a:noFill/>
        </p:spPr>
        <p:txBody>
          <a:bodyPr wrap="square" lIns="0" rIns="0" tIns="0" bIns="0">
            <a:spAutoFit/>
          </a:bodyPr>
          <a:lstStyle/>
          <a:p>
            <a:pPr algn="l"/>
            <a:r>
              <a:rPr sz="1200" b="0">
                <a:solidFill>
                  <a:srgbClr val="1A1A1A"/>
                </a:solidFill>
                <a:latin typeface="Calibri"/>
              </a:rPr>
              <a:t>Neo4j GDS k-NN and personalised PageRank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Recommender Strategies (all live)</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Semantic</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MiniLM-L6-v2 embeddings + Neo4j native vector index (cosine k-NN)</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Cross-encoder rerank</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BAAI/bge-reranker-base for query × candidate re-scoring</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Collaborative filtering</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LightFM WARP trained on goodbooks-10k (~6M real ratings)</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Graph traversal</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Neo4j GDS k-NN and personalised PageRank</a:t>
            </a:r>
          </a:p>
        </p:txBody>
      </p:sp>
      <p:sp>
        <p:nvSpPr>
          <p:cNvPr id="19" name="Rectangle 18"/>
          <p:cNvSpPr/>
          <p:nvPr/>
        </p:nvSpPr>
        <p:spPr>
          <a:xfrm>
            <a:off x="640080" y="349300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20440"/>
            <a:ext cx="3200400" cy="411480"/>
          </a:xfrm>
          <a:prstGeom prst="rect">
            <a:avLst/>
          </a:prstGeom>
          <a:noFill/>
        </p:spPr>
        <p:txBody>
          <a:bodyPr wrap="square" lIns="0" rIns="0" tIns="0" bIns="0">
            <a:spAutoFit/>
          </a:bodyPr>
          <a:lstStyle/>
          <a:p>
            <a:pPr algn="l"/>
            <a:r>
              <a:rPr sz="1300" b="1">
                <a:solidFill>
                  <a:srgbClr val="1E2A44"/>
                </a:solidFill>
                <a:latin typeface="Calibri"/>
              </a:rPr>
              <a:t>Cross-platform reception</a:t>
            </a:r>
          </a:p>
        </p:txBody>
      </p:sp>
      <p:sp>
        <p:nvSpPr>
          <p:cNvPr id="21" name="TextBox 20"/>
          <p:cNvSpPr txBox="1"/>
          <p:nvPr/>
        </p:nvSpPr>
        <p:spPr>
          <a:xfrm>
            <a:off x="4023360" y="3520440"/>
            <a:ext cx="7680960" cy="411480"/>
          </a:xfrm>
          <a:prstGeom prst="rect">
            <a:avLst/>
          </a:prstGeom>
          <a:noFill/>
        </p:spPr>
        <p:txBody>
          <a:bodyPr wrap="square" lIns="0" rIns="0" tIns="0" bIns="0">
            <a:spAutoFit/>
          </a:bodyPr>
          <a:lstStyle/>
          <a:p>
            <a:pPr algn="l"/>
            <a:r>
              <a:rPr sz="1200" b="0">
                <a:solidFill>
                  <a:srgbClr val="1A1A1A"/>
                </a:solidFill>
                <a:latin typeface="Calibri"/>
              </a:rPr>
              <a:t>Weighted sentiment across Reddit / YouTube / Bluesky / Mastodon</a:t>
            </a:r>
          </a:p>
        </p:txBody>
      </p:sp>
      <p:sp>
        <p:nvSpPr>
          <p:cNvPr id="22" name="Rectangle 21"/>
          <p:cNvSpPr/>
          <p:nvPr/>
        </p:nvSpPr>
        <p:spPr>
          <a:xfrm>
            <a:off x="640080" y="3995927"/>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23359"/>
            <a:ext cx="3200400" cy="411480"/>
          </a:xfrm>
          <a:prstGeom prst="rect">
            <a:avLst/>
          </a:prstGeom>
          <a:noFill/>
        </p:spPr>
        <p:txBody>
          <a:bodyPr wrap="square" lIns="0" rIns="0" tIns="0" bIns="0">
            <a:spAutoFit/>
          </a:bodyPr>
          <a:lstStyle/>
          <a:p>
            <a:pPr algn="l"/>
            <a:r>
              <a:rPr sz="1300" b="1">
                <a:solidFill>
                  <a:srgbClr val="1E2A44"/>
                </a:solidFill>
                <a:latin typeface="Calibri"/>
              </a:rPr>
              <a:t>Learned rank fusion</a:t>
            </a:r>
          </a:p>
        </p:txBody>
      </p:sp>
      <p:sp>
        <p:nvSpPr>
          <p:cNvPr id="24" name="TextBox 23"/>
          <p:cNvSpPr txBox="1"/>
          <p:nvPr/>
        </p:nvSpPr>
        <p:spPr>
          <a:xfrm>
            <a:off x="4023360" y="4023359"/>
            <a:ext cx="7680960" cy="411480"/>
          </a:xfrm>
          <a:prstGeom prst="rect">
            <a:avLst/>
          </a:prstGeom>
          <a:noFill/>
        </p:spPr>
        <p:txBody>
          <a:bodyPr wrap="square" lIns="0" rIns="0" tIns="0" bIns="0">
            <a:spAutoFit/>
          </a:bodyPr>
          <a:lstStyle/>
          <a:p>
            <a:pPr algn="l"/>
            <a:r>
              <a:rPr sz="1200" b="0">
                <a:solidFill>
                  <a:srgbClr val="1A1A1A"/>
                </a:solidFill>
                <a:latin typeface="Calibri"/>
              </a:rPr>
              <a:t>LightGBM LambdaRank over 6 features (sim, cf, reception, diversity, ce, freshness)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Sentiment Pipeline</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CardiffNLP twitter-roberta-base-sentiment-latest — batch=16, single or batch inference.</a:t>
            </a:r>
          </a:p>
          <a:p>
            <a:pPr algn="l">
              <a:spcAft>
                <a:spcPts val="600"/>
              </a:spcAft>
            </a:pPr>
            <a:r>
              <a:rPr sz="1700">
                <a:solidFill>
                  <a:srgbClr val="1A1A1A"/>
                </a:solidFill>
                <a:latin typeface="Calibri"/>
              </a:rPr>
              <a:t>•  Twitter-style preprocessing: @username → @user, URLs → http.</a:t>
            </a:r>
          </a:p>
          <a:p>
            <a:pPr algn="l">
              <a:spcAft>
                <a:spcPts val="600"/>
              </a:spcAft>
            </a:pPr>
            <a:r>
              <a:rPr sz="1700">
                <a:solidFill>
                  <a:srgbClr val="1A1A1A"/>
                </a:solidFill>
                <a:latin typeface="Calibri"/>
              </a:rPr>
              <a:t>•  Offline fallback lexicon scorer activates when HF hub or model file is unavailable — labels neutral by default, requires strong signal to shift.</a:t>
            </a:r>
          </a:p>
          <a:p>
            <a:pPr algn="l">
              <a:spcAft>
                <a:spcPts val="600"/>
              </a:spcAft>
            </a:pPr>
            <a:r>
              <a:rPr sz="1700">
                <a:solidFill>
                  <a:srgbClr val="1A1A1A"/>
                </a:solidFill>
                <a:latin typeface="Calibri"/>
              </a:rPr>
              <a:t>•  Aggregation returns (positive, neutral, negative) counts per (book, platform).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Entity Resolution</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rapidfuzz WRatio fuzzy match on title + author, default min_score = 82.</a:t>
            </a:r>
          </a:p>
          <a:p>
            <a:pPr algn="l">
              <a:spcAft>
                <a:spcPts val="600"/>
              </a:spcAft>
            </a:pPr>
            <a:r>
              <a:rPr sz="1700">
                <a:solidFill>
                  <a:srgbClr val="1A1A1A"/>
                </a:solidFill>
                <a:latin typeface="Calibri"/>
              </a:rPr>
              <a:t>•  In-memory catalogue index built at startup, refreshed periodically.</a:t>
            </a:r>
          </a:p>
          <a:p>
            <a:pPr algn="l">
              <a:spcAft>
                <a:spcPts val="600"/>
              </a:spcAft>
            </a:pPr>
            <a:r>
              <a:rPr sz="1700">
                <a:solidFill>
                  <a:srgbClr val="1A1A1A"/>
                </a:solidFill>
                <a:latin typeface="Calibri"/>
              </a:rPr>
              <a:t>•  Maps user-generated mention text (misspelled, no ISBN) to canonical :Book.isbn before scoring.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Cross-Platform Ingestion</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640080" y="148132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00400" cy="411480"/>
          </a:xfrm>
          <a:prstGeom prst="rect">
            <a:avLst/>
          </a:prstGeom>
          <a:noFill/>
        </p:spPr>
        <p:txBody>
          <a:bodyPr wrap="square" lIns="0" rIns="0" tIns="0" bIns="0">
            <a:spAutoFit/>
          </a:bodyPr>
          <a:lstStyle/>
          <a:p>
            <a:pPr algn="l"/>
            <a:r>
              <a:rPr sz="1300" b="1">
                <a:solidFill>
                  <a:srgbClr val="1E2A44"/>
                </a:solidFill>
                <a:latin typeface="Calibri"/>
              </a:rPr>
              <a:t>Reddit</a:t>
            </a:r>
          </a:p>
        </p:txBody>
      </p:sp>
      <p:sp>
        <p:nvSpPr>
          <p:cNvPr id="9" name="TextBox 8"/>
          <p:cNvSpPr txBox="1"/>
          <p:nvPr/>
        </p:nvSpPr>
        <p:spPr>
          <a:xfrm>
            <a:off x="4023360" y="1508760"/>
            <a:ext cx="7680960" cy="411480"/>
          </a:xfrm>
          <a:prstGeom prst="rect">
            <a:avLst/>
          </a:prstGeom>
          <a:noFill/>
        </p:spPr>
        <p:txBody>
          <a:bodyPr wrap="square" lIns="0" rIns="0" tIns="0" bIns="0">
            <a:spAutoFit/>
          </a:bodyPr>
          <a:lstStyle/>
          <a:p>
            <a:pPr algn="l"/>
            <a:r>
              <a:rPr sz="1200" b="0">
                <a:solidFill>
                  <a:srgbClr val="1A1A1A"/>
                </a:solidFill>
                <a:latin typeface="Calibri"/>
              </a:rPr>
              <a:t>PRAW OAuth · subreddits /r/books, /r/booksuggestions, /r/52book, /r/literature</a:t>
            </a:r>
          </a:p>
        </p:txBody>
      </p:sp>
      <p:sp>
        <p:nvSpPr>
          <p:cNvPr id="10" name="Rectangle 9"/>
          <p:cNvSpPr/>
          <p:nvPr/>
        </p:nvSpPr>
        <p:spPr>
          <a:xfrm>
            <a:off x="640080" y="198424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3200400" cy="411480"/>
          </a:xfrm>
          <a:prstGeom prst="rect">
            <a:avLst/>
          </a:prstGeom>
          <a:noFill/>
        </p:spPr>
        <p:txBody>
          <a:bodyPr wrap="square" lIns="0" rIns="0" tIns="0" bIns="0">
            <a:spAutoFit/>
          </a:bodyPr>
          <a:lstStyle/>
          <a:p>
            <a:pPr algn="l"/>
            <a:r>
              <a:rPr sz="1300" b="1">
                <a:solidFill>
                  <a:srgbClr val="1E2A44"/>
                </a:solidFill>
                <a:latin typeface="Calibri"/>
              </a:rPr>
              <a:t>YouTube</a:t>
            </a:r>
          </a:p>
        </p:txBody>
      </p:sp>
      <p:sp>
        <p:nvSpPr>
          <p:cNvPr id="12" name="TextBox 11"/>
          <p:cNvSpPr txBox="1"/>
          <p:nvPr/>
        </p:nvSpPr>
        <p:spPr>
          <a:xfrm>
            <a:off x="4023360" y="2011680"/>
            <a:ext cx="7680960" cy="411480"/>
          </a:xfrm>
          <a:prstGeom prst="rect">
            <a:avLst/>
          </a:prstGeom>
          <a:noFill/>
        </p:spPr>
        <p:txBody>
          <a:bodyPr wrap="square" lIns="0" rIns="0" tIns="0" bIns="0">
            <a:spAutoFit/>
          </a:bodyPr>
          <a:lstStyle/>
          <a:p>
            <a:pPr algn="l"/>
            <a:r>
              <a:rPr sz="1200" b="0">
                <a:solidFill>
                  <a:srgbClr val="1A1A1A"/>
                </a:solidFill>
                <a:latin typeface="Calibri"/>
              </a:rPr>
              <a:t>Data API v3 · top-level comments on review videos · 30-day retention</a:t>
            </a:r>
          </a:p>
        </p:txBody>
      </p:sp>
      <p:sp>
        <p:nvSpPr>
          <p:cNvPr id="13" name="Rectangle 12"/>
          <p:cNvSpPr/>
          <p:nvPr/>
        </p:nvSpPr>
        <p:spPr>
          <a:xfrm>
            <a:off x="640080" y="2487168"/>
            <a:ext cx="11155680" cy="45720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514600"/>
            <a:ext cx="3200400" cy="411480"/>
          </a:xfrm>
          <a:prstGeom prst="rect">
            <a:avLst/>
          </a:prstGeom>
          <a:noFill/>
        </p:spPr>
        <p:txBody>
          <a:bodyPr wrap="square" lIns="0" rIns="0" tIns="0" bIns="0">
            <a:spAutoFit/>
          </a:bodyPr>
          <a:lstStyle/>
          <a:p>
            <a:pPr algn="l"/>
            <a:r>
              <a:rPr sz="1300" b="1">
                <a:solidFill>
                  <a:srgbClr val="1E2A44"/>
                </a:solidFill>
                <a:latin typeface="Calibri"/>
              </a:rPr>
              <a:t>Bluesky</a:t>
            </a:r>
          </a:p>
        </p:txBody>
      </p:sp>
      <p:sp>
        <p:nvSpPr>
          <p:cNvPr id="15" name="TextBox 14"/>
          <p:cNvSpPr txBox="1"/>
          <p:nvPr/>
        </p:nvSpPr>
        <p:spPr>
          <a:xfrm>
            <a:off x="4023360" y="2514600"/>
            <a:ext cx="7680960" cy="411480"/>
          </a:xfrm>
          <a:prstGeom prst="rect">
            <a:avLst/>
          </a:prstGeom>
          <a:noFill/>
        </p:spPr>
        <p:txBody>
          <a:bodyPr wrap="square" lIns="0" rIns="0" tIns="0" bIns="0">
            <a:spAutoFit/>
          </a:bodyPr>
          <a:lstStyle/>
          <a:p>
            <a:pPr algn="l"/>
            <a:r>
              <a:rPr sz="1200" b="0">
                <a:solidFill>
                  <a:srgbClr val="1A1A1A"/>
                </a:solidFill>
                <a:latin typeface="Calibri"/>
              </a:rPr>
              <a:t>AT Protocol public searchPosts · optional app-password auth</a:t>
            </a:r>
          </a:p>
        </p:txBody>
      </p:sp>
      <p:sp>
        <p:nvSpPr>
          <p:cNvPr id="16" name="Rectangle 15"/>
          <p:cNvSpPr/>
          <p:nvPr/>
        </p:nvSpPr>
        <p:spPr>
          <a:xfrm>
            <a:off x="640080" y="2990088"/>
            <a:ext cx="111556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17520"/>
            <a:ext cx="3200400" cy="411480"/>
          </a:xfrm>
          <a:prstGeom prst="rect">
            <a:avLst/>
          </a:prstGeom>
          <a:noFill/>
        </p:spPr>
        <p:txBody>
          <a:bodyPr wrap="square" lIns="0" rIns="0" tIns="0" bIns="0">
            <a:spAutoFit/>
          </a:bodyPr>
          <a:lstStyle/>
          <a:p>
            <a:pPr algn="l"/>
            <a:r>
              <a:rPr sz="1300" b="1">
                <a:solidFill>
                  <a:srgbClr val="1E2A44"/>
                </a:solidFill>
                <a:latin typeface="Calibri"/>
              </a:rPr>
              <a:t>Mastodon</a:t>
            </a:r>
          </a:p>
        </p:txBody>
      </p:sp>
      <p:sp>
        <p:nvSpPr>
          <p:cNvPr id="18" name="TextBox 17"/>
          <p:cNvSpPr txBox="1"/>
          <p:nvPr/>
        </p:nvSpPr>
        <p:spPr>
          <a:xfrm>
            <a:off x="4023360" y="3017520"/>
            <a:ext cx="7680960" cy="411480"/>
          </a:xfrm>
          <a:prstGeom prst="rect">
            <a:avLst/>
          </a:prstGeom>
          <a:noFill/>
        </p:spPr>
        <p:txBody>
          <a:bodyPr wrap="square" lIns="0" rIns="0" tIns="0" bIns="0">
            <a:spAutoFit/>
          </a:bodyPr>
          <a:lstStyle/>
          <a:p>
            <a:pPr algn="l"/>
            <a:r>
              <a:rPr sz="1200" b="0">
                <a:solidFill>
                  <a:srgbClr val="1A1A1A"/>
                </a:solidFill>
                <a:latin typeface="Calibri"/>
              </a:rPr>
              <a:t>Public hashtag timelines · #bookstodon, #booksky, #booktok, #bookreview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Storage Model — Neo4j Labels &amp; Relationships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Nodes: :Person, :Book, :Review, :Annotation, :PlatformReception.</a:t>
            </a:r>
          </a:p>
          <a:p>
            <a:pPr algn="l">
              <a:spcAft>
                <a:spcPts val="600"/>
              </a:spcAft>
            </a:pPr>
            <a:r>
              <a:rPr sz="1700">
                <a:solidFill>
                  <a:srgbClr val="1A1A1A"/>
                </a:solidFill>
                <a:latin typeface="Calibri"/>
              </a:rPr>
              <a:t>•  Relationships: :FOLLOWS, :AUTHORED, :REVIEWS, :LIKES, :ANNOTATED, :ON_SOURCE, :RECEPTION_ON.</a:t>
            </a:r>
          </a:p>
          <a:p>
            <a:pPr algn="l">
              <a:spcAft>
                <a:spcPts val="600"/>
              </a:spcAft>
            </a:pPr>
            <a:r>
              <a:rPr sz="1700">
                <a:solidFill>
                  <a:srgbClr val="1A1A1A"/>
                </a:solidFill>
                <a:latin typeface="Calibri"/>
              </a:rPr>
              <a:t>•  Native vector index on :Book(embedding) for semantic k-NN.</a:t>
            </a:r>
          </a:p>
          <a:p>
            <a:pPr algn="l">
              <a:spcAft>
                <a:spcPts val="600"/>
              </a:spcAft>
            </a:pPr>
            <a:r>
              <a:rPr sz="1700">
                <a:solidFill>
                  <a:srgbClr val="1A1A1A"/>
                </a:solidFill>
                <a:latin typeface="Calibri"/>
              </a:rPr>
              <a:t>•  GDS graph projection over :Person → :Person for personalised PageRank.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Federation Details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ActivityPub actor JSON-LD at /users/:username with publicKey block for HTTP Signatures.</a:t>
            </a:r>
          </a:p>
          <a:p>
            <a:pPr algn="l">
              <a:spcAft>
                <a:spcPts val="600"/>
              </a:spcAft>
            </a:pPr>
            <a:r>
              <a:rPr sz="1700">
                <a:solidFill>
                  <a:srgbClr val="1A1A1A"/>
                </a:solidFill>
                <a:latin typeface="Calibri"/>
              </a:rPr>
              <a:t>•  WebFinger at /.well-known/webfinger resolves acct:user@domain to actor URL.</a:t>
            </a:r>
          </a:p>
          <a:p>
            <a:pPr algn="l">
              <a:spcAft>
                <a:spcPts val="600"/>
              </a:spcAft>
            </a:pPr>
            <a:r>
              <a:rPr sz="1700">
                <a:solidFill>
                  <a:srgbClr val="1A1A1A"/>
                </a:solidFill>
                <a:latin typeface="Calibri"/>
              </a:rPr>
              <a:t>•  Outbound activities signed with node-forge (RSA-2048, private key stored on :Person node).</a:t>
            </a:r>
          </a:p>
          <a:p>
            <a:pPr algn="l">
              <a:spcAft>
                <a:spcPts val="600"/>
              </a:spcAft>
            </a:pPr>
            <a:r>
              <a:rPr sz="1700">
                <a:solidFill>
                  <a:srgbClr val="1A1A1A"/>
                </a:solidFill>
                <a:latin typeface="Calibri"/>
              </a:rPr>
              <a:t>•  Shared inbox at /inbox verifies signature, dispatches Follow / Like / Announce / Create.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Deployment — Docker Compose</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Services: neo4j, redis, postgres, ml-service, ml-dashboard.</a:t>
            </a:r>
          </a:p>
          <a:p>
            <a:pPr algn="l">
              <a:spcAft>
                <a:spcPts val="600"/>
              </a:spcAft>
            </a:pPr>
            <a:r>
              <a:rPr sz="1700">
                <a:solidFill>
                  <a:srgbClr val="1A1A1A"/>
                </a:solidFill>
                <a:latin typeface="Calibri"/>
              </a:rPr>
              <a:t>•  ml-service and ml-dashboard both build from ml-service/Dockerfile; dashboard runs streamlit.</a:t>
            </a:r>
          </a:p>
          <a:p>
            <a:pPr algn="l">
              <a:spcAft>
                <a:spcPts val="600"/>
              </a:spcAft>
            </a:pPr>
            <a:r>
              <a:rPr sz="1700">
                <a:solidFill>
                  <a:srgbClr val="1A1A1A"/>
                </a:solidFill>
                <a:latin typeface="Calibri"/>
              </a:rPr>
              <a:t>•  Volumes: neo4j_data, postgres_data, ml_hf_cache, ml_torch_cache — model + DB state persists across rebuilds.</a:t>
            </a:r>
          </a:p>
          <a:p>
            <a:pPr algn="l">
              <a:spcAft>
                <a:spcPts val="600"/>
              </a:spcAft>
            </a:pPr>
            <a:r>
              <a:rPr sz="1700">
                <a:solidFill>
                  <a:srgbClr val="1A1A1A"/>
                </a:solidFill>
                <a:latin typeface="Calibri"/>
              </a:rPr>
              <a:t>•  Backend + frontend run natively via nodemon / react-scripts for hot reload.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Operations</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npm run seed — idempotent FE seed (3 users, 6 Sri Lankan books, follows, reviews, annotations).</a:t>
            </a:r>
          </a:p>
          <a:p>
            <a:pPr algn="l">
              <a:spcAft>
                <a:spcPts val="600"/>
              </a:spcAft>
            </a:pPr>
            <a:r>
              <a:rPr sz="1700">
                <a:solidFill>
                  <a:srgbClr val="1A1A1A"/>
                </a:solidFill>
                <a:latin typeface="Calibri"/>
              </a:rPr>
              <a:t>•  seed_kaggle_books.py — Kaggle 7k catalogue via MERGE (no wipe).</a:t>
            </a:r>
          </a:p>
          <a:p>
            <a:pPr algn="l">
              <a:spcAft>
                <a:spcPts val="600"/>
              </a:spcAft>
            </a:pPr>
            <a:r>
              <a:rPr sz="1700">
                <a:solidFill>
                  <a:srgbClr val="1A1A1A"/>
                </a:solidFill>
                <a:latin typeface="Calibri"/>
              </a:rPr>
              <a:t>•  build_embeddings.py — MiniLM embeddings written to :Book(embedding).</a:t>
            </a:r>
          </a:p>
          <a:p>
            <a:pPr algn="l">
              <a:spcAft>
                <a:spcPts val="600"/>
              </a:spcAft>
            </a:pPr>
            <a:r>
              <a:rPr sz="1700">
                <a:solidFill>
                  <a:srgbClr val="1A1A1A"/>
                </a:solidFill>
                <a:latin typeface="Calibri"/>
              </a:rPr>
              <a:t>•  ingest_daily.py --platforms ... --limit N — real cross-platform ingestion, --drop-mock replaces demo data.</a:t>
            </a:r>
          </a:p>
          <a:p>
            <a:pPr algn="l">
              <a:spcAft>
                <a:spcPts val="600"/>
              </a:spcAft>
            </a:pPr>
            <a:r>
              <a:rPr sz="1700">
                <a:solidFill>
                  <a:srgbClr val="1A1A1A"/>
                </a:solidFill>
                <a:latin typeface="Calibri"/>
              </a:rPr>
              <a:t>•  purge_expired_receptions.py — daily YouTube 30-day retention purge.</a:t>
            </a:r>
          </a:p>
          <a:p>
            <a:pPr algn="l">
              <a:spcAft>
                <a:spcPts val="600"/>
              </a:spcAft>
            </a:pPr>
            <a:r>
              <a:rPr sz="1700">
                <a:solidFill>
                  <a:srgbClr val="1A1A1A"/>
                </a:solidFill>
                <a:latin typeface="Calibri"/>
              </a:rPr>
              <a:t>•  reddit_deletion_sweep.py — weekly, honours Reddit deletions.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Privacy &amp; Compliance Design</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TextBox 6"/>
          <p:cNvSpPr txBox="1"/>
          <p:nvPr/>
        </p:nvSpPr>
        <p:spPr>
          <a:xfrm>
            <a:off x="640080" y="1417320"/>
            <a:ext cx="10972800" cy="4754880"/>
          </a:xfrm>
          <a:prstGeom prst="rect">
            <a:avLst/>
          </a:prstGeom>
          <a:noFill/>
        </p:spPr>
        <p:txBody>
          <a:bodyPr wrap="square" lIns="0" rIns="0" tIns="0" bIns="0">
            <a:spAutoFit/>
          </a:bodyPr>
          <a:lstStyle/>
          <a:p>
            <a:pPr algn="l">
              <a:spcAft>
                <a:spcPts val="600"/>
              </a:spcAft>
            </a:pPr>
            <a:r>
              <a:rPr sz="1700">
                <a:solidFill>
                  <a:srgbClr val="1A1A1A"/>
                </a:solidFill>
                <a:latin typeface="Calibri"/>
              </a:rPr>
              <a:t>•  Raw mention text is never persisted — only aggregated counts and external IDs for deletion sweep.</a:t>
            </a:r>
          </a:p>
          <a:p>
            <a:pPr algn="l">
              <a:spcAft>
                <a:spcPts val="600"/>
              </a:spcAft>
            </a:pPr>
            <a:r>
              <a:rPr sz="1700">
                <a:solidFill>
                  <a:srgbClr val="1A1A1A"/>
                </a:solidFill>
                <a:latin typeface="Calibri"/>
              </a:rPr>
              <a:t>•  YouTube receptions carry expires_at, purged after 30 days.</a:t>
            </a:r>
          </a:p>
          <a:p>
            <a:pPr algn="l">
              <a:spcAft>
                <a:spcPts val="600"/>
              </a:spcAft>
            </a:pPr>
            <a:r>
              <a:rPr sz="1700">
                <a:solidFill>
                  <a:srgbClr val="1A1A1A"/>
                </a:solidFill>
                <a:latin typeface="Calibri"/>
              </a:rPr>
              <a:t>•  Reddit deletion sweep removes counts for posts that no longer exist.</a:t>
            </a:r>
          </a:p>
          <a:p>
            <a:pPr algn="l">
              <a:spcAft>
                <a:spcPts val="600"/>
              </a:spcAft>
            </a:pPr>
            <a:r>
              <a:rPr sz="1700">
                <a:solidFill>
                  <a:srgbClr val="1A1A1A"/>
                </a:solidFill>
                <a:latin typeface="Calibri"/>
              </a:rPr>
              <a:t>•  All external calls carry a project user-agent identifying the researcher.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457200"/>
            <a:ext cx="109728" cy="50292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731520"/>
          </a:xfrm>
          <a:prstGeom prst="rect">
            <a:avLst/>
          </a:prstGeom>
          <a:noFill/>
        </p:spPr>
        <p:txBody>
          <a:bodyPr wrap="square" lIns="0" rIns="0" tIns="0" bIns="0">
            <a:spAutoFit/>
          </a:bodyPr>
          <a:lstStyle/>
          <a:p>
            <a:pPr algn="l"/>
            <a:r>
              <a:rPr sz="2800" b="1">
                <a:solidFill>
                  <a:srgbClr val="1E2A44"/>
                </a:solidFill>
                <a:latin typeface="Calibri"/>
              </a:rPr>
              <a:t>Where to Look in the Repo</a:t>
            </a:r>
          </a:p>
        </p:txBody>
      </p:sp>
      <p:sp>
        <p:nvSpPr>
          <p:cNvPr id="4" name="Rectangle 3"/>
          <p:cNvSpPr/>
          <p:nvPr/>
        </p:nvSpPr>
        <p:spPr>
          <a:xfrm>
            <a:off x="365760" y="1051560"/>
            <a:ext cx="11338560" cy="27432"/>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37960"/>
            <a:ext cx="12191695" cy="320040"/>
          </a:xfrm>
          <a:prstGeom prst="rect">
            <a:avLst/>
          </a:prstGeom>
          <a:solidFill>
            <a:srgbClr val="1E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65392"/>
            <a:ext cx="7315200" cy="274320"/>
          </a:xfrm>
          <a:prstGeom prst="rect">
            <a:avLst/>
          </a:prstGeom>
          <a:noFill/>
        </p:spPr>
        <p:txBody>
          <a:bodyPr wrap="square" lIns="0" rIns="0" tIns="0" bIns="0">
            <a:spAutoFit/>
          </a:bodyPr>
          <a:lstStyle/>
          <a:p>
            <a:pPr algn="l"/>
            <a:r>
              <a:rPr sz="1000" b="0">
                <a:solidFill>
                  <a:srgbClr val="FFFFFF"/>
                </a:solidFill>
                <a:latin typeface="Calibri"/>
              </a:rPr>
              <a:t>FedBook-Sem — Technical Walkthrough</a:t>
            </a:r>
          </a:p>
        </p:txBody>
      </p:sp>
      <p:sp>
        <p:nvSpPr>
          <p:cNvPr id="7" name="Rectangle 6"/>
          <p:cNvSpPr/>
          <p:nvPr/>
        </p:nvSpPr>
        <p:spPr>
          <a:xfrm>
            <a:off x="914400" y="2011680"/>
            <a:ext cx="109728" cy="274320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920240"/>
            <a:ext cx="10058400" cy="2926080"/>
          </a:xfrm>
          <a:prstGeom prst="rect">
            <a:avLst/>
          </a:prstGeom>
          <a:noFill/>
        </p:spPr>
        <p:txBody>
          <a:bodyPr wrap="square" lIns="0" rIns="0" tIns="0" bIns="0">
            <a:spAutoFit/>
          </a:bodyPr>
          <a:lstStyle/>
          <a:p>
            <a:pPr algn="l"/>
            <a:r>
              <a:rPr sz="2200" b="0">
                <a:solidFill>
                  <a:srgbClr val="1A1A1A"/>
                </a:solidFill>
                <a:latin typeface="Calibri"/>
              </a:rPr>
              <a:t>backend/src/routes/*.js  ·  backend/src/activitypub/delivery.js
ml-service/src/fedbook_ml/api.py  ·  ml-service/src/fedbook_ml/ingest/*.py
ml-service/src/fedbook_ml/dashboard/pages/*.py</a:t>
            </a:r>
          </a:p>
        </p:txBody>
      </p:sp>
      <p:sp>
        <p:nvSpPr>
          <p:cNvPr id="9" name="TextBox 8"/>
          <p:cNvSpPr txBox="1"/>
          <p:nvPr/>
        </p:nvSpPr>
        <p:spPr>
          <a:xfrm>
            <a:off x="1280160" y="5120640"/>
            <a:ext cx="10058400" cy="457200"/>
          </a:xfrm>
          <a:prstGeom prst="rect">
            <a:avLst/>
          </a:prstGeom>
          <a:noFill/>
        </p:spPr>
        <p:txBody>
          <a:bodyPr wrap="square" lIns="0" rIns="0" tIns="0" bIns="0">
            <a:spAutoFit/>
          </a:bodyPr>
          <a:lstStyle/>
          <a:p>
            <a:pPr algn="l"/>
            <a:r>
              <a:rPr sz="1300" b="0">
                <a:solidFill>
                  <a:srgbClr val="667085"/>
                </a:solidFill>
                <a:latin typeface="Calibri"/>
              </a:rPr>
              <a:t>— docs/SETUP_ML_AND_DASHBOARD.md walks the whole bring-up.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